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47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6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10362895" cy="47548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D96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46304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D96B27"/>
                </a:solidFill>
                <a:latin typeface="Times New Roman"/>
              </a:rPr>
              <a:t>PROPOSTA DE PARCERIA E MAPEAMENTO DIGITAL UNIFICADO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011680"/>
            <a:ext cx="9601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Times New Roman"/>
              </a:rPr>
              <a:t>Base de Dados Agro — A Infraestrutura Digital do Agronegócio Moçambicano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5661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E2E8F0"/>
                </a:solidFill>
                <a:latin typeface="Times New Roman"/>
              </a:rPr>
              <a:t>Apresentação Institucional e Oportunidades de Parceria Estratégica com o MADER / FAR, 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466344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D96B27"/>
                </a:solidFill>
                <a:latin typeface="Times New Roman"/>
              </a:rPr>
              <a:t>Apresentador: Silva Chamo (Director Geral — EntreCAMPOS)
Data: Setembro de 2026 | Maputo, Moçambique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54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D96B27"/>
                </a:solidFill>
                <a:latin typeface="Times New Roman"/>
              </a:rPr>
              <a:t>BASE DE DADOS AGRO MOÇAMBIQUE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Times New Roman"/>
              </a:rPr>
              <a:t>O Desafio do Sector: Fragmentação e Custos Operacionais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54736"/>
                </a:solidFill>
                <a:latin typeface="Times New Roman"/>
              </a:rPr>
              <a:t>1. Mapeamento Fragmentado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11827"/>
                </a:solidFill>
                <a:latin typeface="Times New Roman"/>
              </a:rPr>
              <a:t>Inexistência de um registo único, centralizado e pesquisável dos operadores do agronegócio, fornecedores de insumos e prestadores de serviços em Moçambique.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371600"/>
            <a:ext cx="33832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6459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54736"/>
                </a:solidFill>
                <a:latin typeface="Times New Roman"/>
              </a:rPr>
              <a:t>2. Barreira na Informação Fidedigna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46888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11827"/>
                </a:solidFill>
                <a:latin typeface="Times New Roman"/>
              </a:rPr>
              <a:t>Dificuldade na ligação rápida e transparente entre produtores rurais e fornecedores certificados de sementes e fertilizantes licenciados pelas Direcções Provinciais.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371600"/>
            <a:ext cx="33832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6459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54736"/>
                </a:solidFill>
                <a:latin typeface="Times New Roman"/>
              </a:rPr>
              <a:t>3. Elevados Encargos para o Estado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46888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11827"/>
                </a:solidFill>
                <a:latin typeface="Times New Roman"/>
              </a:rPr>
              <a:t>Necessidade constante do MADER e do FAR, IP de despender recursos a cada ciclo agrário para mapear beneficiários e fornecedores elegíveis no terreno.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54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D96B27"/>
                </a:solidFill>
                <a:latin typeface="Times New Roman"/>
              </a:rPr>
              <a:t>BASE DE DADOS AGRO MOÇAMBIQUE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Times New Roman"/>
              </a:rPr>
              <a:t>Dimensão Actual e Indicadores Chave do Sector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54736"/>
                </a:solidFill>
                <a:latin typeface="Times New Roman"/>
              </a:rPr>
              <a:t>INDICADORES MACROECONÓMICOS OFICIAIS (INE/MADER)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111827"/>
                </a:solidFill>
                <a:latin typeface="Times New Roman"/>
              </a:rPr>
              <a:t>• Produção Agrária Nacional (2025/26): </a:t>
            </a:r>
            <a:r>
              <a:rPr sz="1150">
                <a:solidFill>
                  <a:srgbClr val="111827"/>
                </a:solidFill>
                <a:latin typeface="Times New Roman"/>
              </a:rPr>
              <a:t>20M+ de Toneladas (+5% de crescimento anual).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111827"/>
                </a:solidFill>
                <a:latin typeface="Times New Roman"/>
              </a:rPr>
              <a:t>• PIB Agrícola Nacional (Q2 2025): </a:t>
            </a:r>
            <a:r>
              <a:rPr sz="1150">
                <a:solidFill>
                  <a:srgbClr val="111827"/>
                </a:solidFill>
                <a:latin typeface="Times New Roman"/>
              </a:rPr>
              <a:t>91.4 Mil Milhões de MZN (~24% do PIB Nacional).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111827"/>
                </a:solidFill>
                <a:latin typeface="Times New Roman"/>
              </a:rPr>
              <a:t>• Emprego Agrícola: </a:t>
            </a:r>
            <a:r>
              <a:rPr sz="1150">
                <a:solidFill>
                  <a:srgbClr val="111827"/>
                </a:solidFill>
                <a:latin typeface="Times New Roman"/>
              </a:rPr>
              <a:t>70% da Força Laboral Nacional (Sustento da maioria da população).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111827"/>
                </a:solidFill>
                <a:latin typeface="Times New Roman"/>
              </a:rPr>
              <a:t>• Directório de Empresas: </a:t>
            </a:r>
            <a:r>
              <a:rPr sz="1150">
                <a:solidFill>
                  <a:srgbClr val="111827"/>
                </a:solidFill>
                <a:latin typeface="Times New Roman"/>
              </a:rPr>
              <a:t>950+ Empresas ativas mapeadas (~47% da amostra do sector privado comercial).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111827"/>
                </a:solidFill>
                <a:latin typeface="Times New Roman"/>
              </a:rPr>
              <a:t>• Estrutura Agrária: </a:t>
            </a:r>
            <a:r>
              <a:rPr sz="1150">
                <a:solidFill>
                  <a:srgbClr val="111827"/>
                </a:solidFill>
                <a:latin typeface="Times New Roman"/>
              </a:rPr>
              <a:t>4 Milhões de explorações familiares de subsistência vs. ~2.000 empresas comerciais.</a:t>
            </a:r>
          </a:p>
        </p:txBody>
      </p:sp>
      <p:pic>
        <p:nvPicPr>
          <p:cNvPr id="7" name="Picture 6" descr="grafico_operadores_pizz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280160"/>
            <a:ext cx="5303520" cy="294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54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D96B27"/>
                </a:solidFill>
                <a:latin typeface="Times New Roman"/>
              </a:rPr>
              <a:t>BASE DE DADOS AGRO MOÇAMBIQUE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Times New Roman"/>
              </a:rPr>
              <a:t>Alinhamento Estratégico com as Directrizes do Governo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D96B27"/>
                </a:solidFill>
                <a:latin typeface="Times New Roman"/>
              </a:rPr>
              <a:t>FACIM 2026 &amp; Digitalização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11827"/>
                </a:solidFill>
                <a:latin typeface="Times New Roman"/>
              </a:rPr>
              <a:t>Alinhamento directo com o discurso do Presidente da República na abertura da 61.ª FACIM 2026, que exortou o uso da tecnologia como catalisador da produtividade no campo.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371600"/>
            <a:ext cx="33832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6459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D96B27"/>
                </a:solidFill>
                <a:latin typeface="Times New Roman"/>
              </a:rPr>
              <a:t>Apoio ao FAR, IP &amp; Fomento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46888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11827"/>
                </a:solidFill>
                <a:latin typeface="Times New Roman"/>
              </a:rPr>
              <a:t>Base de consulta fiável para constituição de listas de fornecedores e prestadores certificados para programas de fomento e subsídio (ex: Programa Sustenta).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371600"/>
            <a:ext cx="33832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6459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D96B27"/>
                </a:solidFill>
                <a:latin typeface="Times New Roman"/>
              </a:rPr>
              <a:t>Extensionismo Digital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46888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11827"/>
                </a:solidFill>
                <a:latin typeface="Times New Roman"/>
              </a:rPr>
              <a:t>Capacitação tecnológica dos extensionistas do MADER no terreno com tabelas digitais de insumos e diagnósticos fitossanitários computacionais.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54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D96B27"/>
                </a:solidFill>
                <a:latin typeface="Times New Roman"/>
              </a:rPr>
              <a:t>INTELIGÊNCIA ARTIFICIAL E RASTREABILIDADE DE CAMPO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Times New Roman"/>
              </a:rPr>
              <a:t>Inovações Tecnológicas &amp; Módulo de Telemetria IIAM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54736"/>
                </a:solidFill>
                <a:latin typeface="Times New Roman"/>
              </a:rPr>
              <a:t>🌿 AgroBotanica AI &amp; Scaneamento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11827"/>
                </a:solidFill>
                <a:latin typeface="Times New Roman"/>
              </a:rPr>
              <a:t>Identificação instantânea de pragas e análise do valor nutritivo das culturas pela câmara do telemóvel, funcionando online e offline no campo.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371600"/>
            <a:ext cx="33832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6459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54736"/>
                </a:solidFill>
                <a:latin typeface="Times New Roman"/>
              </a:rPr>
              <a:t>🔬 Módulo IIAM de Rastreabilidade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46888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11827"/>
                </a:solidFill>
                <a:latin typeface="Times New Roman"/>
              </a:rPr>
              <a:t>Acompanhamento em tempo real do desempenho de sementes e variedades modificadas pelo IIAM no terreno, transmitindo telemetria foliar automática.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371600"/>
            <a:ext cx="33832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6459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54736"/>
                </a:solidFill>
                <a:latin typeface="Times New Roman"/>
              </a:rPr>
              <a:t>📍 Geolocalização de Insumos &amp; Serviços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46888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11827"/>
                </a:solidFill>
                <a:latin typeface="Times New Roman"/>
              </a:rPr>
              <a:t>Mapeamento georeferenciado de fornecedores licenciados por província e distrito, permitindo comparação de preços e insumos em tempo real.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54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D96B27"/>
                </a:solidFill>
                <a:latin typeface="Times New Roman"/>
              </a:rPr>
              <a:t>GOVERNAÇÃO E INTEGRIDADE DO DIRECTÓRIO NACIONAL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Times New Roman"/>
              </a:rPr>
              <a:t>Segurança de Dados, Anti-Fraude &amp; Validação em 3 Camadas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D96B27"/>
                </a:solidFill>
                <a:latin typeface="Times New Roman"/>
              </a:rPr>
              <a:t>1. Leitor Inteligente de Alvará (OCR)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11827"/>
                </a:solidFill>
                <a:latin typeface="Times New Roman"/>
              </a:rPr>
              <a:t>Upload obrigatório da licença/alvará comercial com validação automática por OCR de NUIT, Província, Razão Social e Data de Validade.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371600"/>
            <a:ext cx="33832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6459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D96B27"/>
                </a:solidFill>
                <a:latin typeface="Times New Roman"/>
              </a:rPr>
              <a:t>2. Consulta de Leitura com o Baú Único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46888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11827"/>
                </a:solidFill>
                <a:latin typeface="Times New Roman"/>
              </a:rPr>
              <a:t>Integração de leitura (Read-Only API) com o Baú Único/Conservatória para confirmar o NUEL e eliminar a criação de empresas fantasmas.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371600"/>
            <a:ext cx="33832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6459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D96B27"/>
                </a:solidFill>
                <a:latin typeface="Times New Roman"/>
              </a:rPr>
              <a:t>3. Monetização &amp; Triagem de Planos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46888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11827"/>
                </a:solidFill>
                <a:latin typeface="Times New Roman"/>
              </a:rPr>
              <a:t>Plano Básico (1.000 MT/ano) com ativação prioritária e selo de Verificado. Cadastros gratuitos sujeitos a auditoria documental manual e física.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54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D96B27"/>
                </a:solidFill>
                <a:latin typeface="Times New Roman"/>
              </a:rPr>
              <a:t>OBJECTIVOS ESTRATÉGICOS DA PARCERIA INSTITUCIONAL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Times New Roman"/>
              </a:rPr>
              <a:t>O Que Pretendemos do MADER: Provedoria &amp; Certificação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0728655" cy="2011680"/>
          </a:xfrm>
          <a:prstGeom prst="roundRect">
            <a:avLst/>
          </a:prstGeom>
          <a:solidFill>
            <a:srgbClr val="054736"/>
          </a:solidFill>
          <a:ln w="12700">
            <a:solidFill>
              <a:srgbClr val="D96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1">
                <a:solidFill>
                  <a:srgbClr val="FFFFFF"/>
                </a:solidFill>
                <a:latin typeface="Times New Roman"/>
              </a:rPr>
              <a:t>“Mais do que uma simples ponte digital entre o Estado e o público alvo da cadeia de valor agrária, pretendemos que o MADER assuma a posição de Provedor Institucional da Plataforma Base de Dados Agro, chancelando-a e autenticando-a como o repositório digital oficial, certificado e de elevada confiança no país. Sob este enquadramento, cabe ao MADER impulsionar a abertura de novos canais de financiamento e programas de fomento em articulação com os seus parceiros de cooperação internacional, bem como promover e difundir activamente a utilização da plataforma junto dos seus aliados estratégicos e de todas as suas delegações provinciais e distritais a nível nacional.”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83280"/>
            <a:ext cx="256032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5204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D96B27"/>
                </a:solidFill>
                <a:latin typeface="Times New Roman"/>
              </a:rPr>
              <a:t>1. Conexão Estado-Público Alvo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29768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111827"/>
                </a:solidFill>
                <a:latin typeface="Times New Roman"/>
              </a:rPr>
              <a:t>Ligar directamente o MADER aos agricultores, fornecedores de insumos, agrólogos, processadores e agentes do agronegócio.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3383280"/>
            <a:ext cx="256032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35204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D96B27"/>
                </a:solidFill>
                <a:latin typeface="Times New Roman"/>
              </a:rPr>
              <a:t>2. Provedor &amp; Chancela Oficial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429768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111827"/>
                </a:solidFill>
                <a:latin typeface="Times New Roman"/>
              </a:rPr>
              <a:t>O MADER como entidade certificadora e autenticadora que chancela os dados como repositório digital fidedigno e aprovado.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383280"/>
            <a:ext cx="256032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35204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D96B27"/>
                </a:solidFill>
                <a:latin typeface="Times New Roman"/>
              </a:rPr>
              <a:t>3. Canais de Financiamento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29768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111827"/>
                </a:solidFill>
                <a:latin typeface="Times New Roman"/>
              </a:rPr>
              <a:t>Abertura de linhas de crédito e programas de fomento em articulação com parceiros de cooperação internacional (FIDA, Banco Mundial, BAD).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3383280"/>
            <a:ext cx="256032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35204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D96B27"/>
                </a:solidFill>
                <a:latin typeface="Times New Roman"/>
              </a:rPr>
              <a:t>4. Difusão Nacional &amp; Delegações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429768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111827"/>
                </a:solidFill>
                <a:latin typeface="Times New Roman"/>
              </a:rPr>
              <a:t>Promoção activa junto de parceiros, aliados estratégicos e todas as delegações provinciais e distritais (DPAP e SDAE).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54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D96B27"/>
                </a:solidFill>
                <a:latin typeface="Times New Roman"/>
              </a:rPr>
              <a:t>BASE DE DADOS AGRO MOÇAMBIQUE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Times New Roman"/>
              </a:rPr>
              <a:t>Proposta de Parceria Estratégica MADER / FAR, IP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371600"/>
            <a:ext cx="10362895" cy="2743200"/>
          </a:xfrm>
          <a:prstGeom prst="roundRect">
            <a:avLst/>
          </a:prstGeom>
          <a:solidFill>
            <a:srgbClr val="054736"/>
          </a:solidFill>
          <a:ln w="12700">
            <a:solidFill>
              <a:srgbClr val="D96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554480"/>
            <a:ext cx="981425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1">
                <a:solidFill>
                  <a:srgbClr val="FFFFFF"/>
                </a:solidFill>
                <a:latin typeface="Times New Roman"/>
              </a:rPr>
              <a:t>“Nós, na EntreCAMPOS, já fizemos o trabalho pesado de pesquisar e catalogar 950 das cerca de 2.000 empresas formais do país. Com a parceria institucional do MADER e do FAR, IP, pretendemos validar e auditar este universo inicial e alcançar as restantes 1.000 empresas, com o objectivo de dotar Moçambique do seu primeiro Mapa Digital com 100% dos operadores do agronegócio integrados.”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389120"/>
            <a:ext cx="50292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48056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054736"/>
                </a:solidFill>
              </a:rPr>
              <a:t>Modelo Win-Win Sem Custos Orçamentais
</a:t>
            </a:r>
            <a:r>
              <a:rPr sz="1150">
                <a:solidFill>
                  <a:srgbClr val="111827"/>
                </a:solidFill>
              </a:rPr>
              <a:t>A infraestrutura é cedida gratuitamente ao Estado em troca de validação institucional e atribuição do selo oficial de conformidade aos operadores.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4389120"/>
            <a:ext cx="50292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0975" y="448056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D96B27"/>
                </a:solidFill>
              </a:rPr>
              <a:t>Canal de Comunicação e Difusão Massiva
</a:t>
            </a:r>
            <a:r>
              <a:rPr sz="1150">
                <a:solidFill>
                  <a:srgbClr val="111827"/>
                </a:solidFill>
              </a:rPr>
              <a:t>Difusão direta via Web, Email e SMS de editais, avisos fitossanitários, linhas de crédito e iniciativas governamentais a todos os agentes económicos.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54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D96B27"/>
                </a:solidFill>
                <a:latin typeface="Times New Roman"/>
              </a:rPr>
              <a:t>BASE DE DADOS AGRO MOÇAMBIQUE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Times New Roman"/>
              </a:rPr>
              <a:t>Roteiro de Cooperação e Cronograma de Implementação</a:t>
            </a:r>
          </a:p>
        </p:txBody>
      </p:sp>
      <p:pic>
        <p:nvPicPr>
          <p:cNvPr id="5" name="Picture 4" descr="grafico_roteiro_gan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728655" cy="53643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4389120"/>
            <a:ext cx="10728655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48056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054736"/>
                </a:solidFill>
                <a:latin typeface="Times New Roman"/>
              </a:rPr>
              <a:t>FASES EXECUTIVAS DE IMPLEMENTAÇÃO DA PARCERIA:</a:t>
            </a:r>
          </a:p>
          <a:p>
            <a:pPr>
              <a:spcBef>
                <a:spcPts val="300"/>
              </a:spcBef>
            </a:pPr>
            <a:r>
              <a:rPr b="1" sz="1100">
                <a:solidFill>
                  <a:srgbClr val="D96B27"/>
                </a:solidFill>
                <a:latin typeface="Times New Roman"/>
              </a:rPr>
              <a:t>• Fase 1 (Outubro 2026): </a:t>
            </a:r>
            <a:r>
              <a:rPr sz="1100">
                <a:solidFill>
                  <a:srgbClr val="111827"/>
                </a:solidFill>
                <a:latin typeface="Times New Roman"/>
              </a:rPr>
              <a:t>Criação de Grupo de Trabalho Técnico com pontos focais da EntreCAMPOS, FAR, IP e MADER.</a:t>
            </a:r>
          </a:p>
          <a:p>
            <a:pPr>
              <a:spcBef>
                <a:spcPts val="300"/>
              </a:spcBef>
            </a:pPr>
            <a:r>
              <a:rPr b="1" sz="1100">
                <a:solidFill>
                  <a:srgbClr val="D96B27"/>
                </a:solidFill>
                <a:latin typeface="Times New Roman"/>
              </a:rPr>
              <a:t>• Fase 2 (Outubro 2026): </a:t>
            </a:r>
            <a:r>
              <a:rPr sz="1100">
                <a:solidFill>
                  <a:srgbClr val="111827"/>
                </a:solidFill>
                <a:latin typeface="Times New Roman"/>
              </a:rPr>
              <a:t>Assinatura do Memorando de Entendimento (MOU de cooperação institucional).</a:t>
            </a:r>
          </a:p>
          <a:p>
            <a:pPr>
              <a:spcBef>
                <a:spcPts val="300"/>
              </a:spcBef>
            </a:pPr>
            <a:r>
              <a:rPr b="1" sz="1100">
                <a:solidFill>
                  <a:srgbClr val="D96B27"/>
                </a:solidFill>
                <a:latin typeface="Times New Roman"/>
              </a:rPr>
              <a:t>• Fase 3 (Nov–Dez 2026): </a:t>
            </a:r>
            <a:r>
              <a:rPr sz="1100">
                <a:solidFill>
                  <a:srgbClr val="111827"/>
                </a:solidFill>
                <a:latin typeface="Times New Roman"/>
              </a:rPr>
              <a:t>Projecto Piloto de Validação Provincial numa província prioritária (Manica ou Sofala).</a:t>
            </a:r>
          </a:p>
          <a:p>
            <a:pPr>
              <a:spcBef>
                <a:spcPts val="300"/>
              </a:spcBef>
            </a:pPr>
            <a:r>
              <a:rPr b="1" sz="1100">
                <a:solidFill>
                  <a:srgbClr val="D96B27"/>
                </a:solidFill>
                <a:latin typeface="Times New Roman"/>
              </a:rPr>
              <a:t>• Fase 4 (Janeiro 2027): </a:t>
            </a:r>
            <a:r>
              <a:rPr sz="1100">
                <a:solidFill>
                  <a:srgbClr val="111827"/>
                </a:solidFill>
                <a:latin typeface="Times New Roman"/>
              </a:rPr>
              <a:t>Lançamento Oficial e Escalamento para o Mapeamento 100% Nacional.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47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097280"/>
            <a:ext cx="9448495" cy="47548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D96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1463040"/>
            <a:ext cx="88998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Times New Roman"/>
              </a:rPr>
              <a:t>Juntos pela Transformação Digital do Agronegócio Moçambicano
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E2E8F0"/>
                </a:solidFill>
                <a:latin typeface="Times New Roman"/>
              </a:rPr>
              <a:t>A EntreCAMPOS reitera a sua inteira disponibilidade para colaborar de forma empenhada com o MADER e o FAR, IP na construção do ecossistema agrícola mais moderno, inclusivo e próspero da África Austral.
</a:t>
            </a:r>
          </a:p>
          <a:p>
            <a:pPr>
              <a:spcBef>
                <a:spcPts val="2000"/>
              </a:spcBef>
            </a:pPr>
            <a:r>
              <a:rPr sz="1400" b="1">
                <a:solidFill>
                  <a:srgbClr val="D96B27"/>
                </a:solidFill>
                <a:latin typeface="Times New Roman"/>
              </a:rPr>
              <a:t>Director Geral: Silva Chamo
Telefone: +258 87 75 75 288
E-mail: geral@basededadosagro.com / silva@visualdesignmoz.com
Website Oficial: www.basededadosagro.com
Maputo, Moçambique | Setembro de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