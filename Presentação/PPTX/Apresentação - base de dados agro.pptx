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grandir Narrow Heavy" charset="1" panose="00000A06000000000000"/>
      <p:regular r:id="rId16"/>
    </p:embeddedFont>
    <p:embeddedFont>
      <p:font typeface="29LT Bukra Semi Wide Ultra-Bold" charset="1" panose="020B0905040000000004"/>
      <p:regular r:id="rId17"/>
    </p:embeddedFont>
    <p:embeddedFont>
      <p:font typeface="29LT Bukra" charset="1" panose="020B0504040000000004"/>
      <p:regular r:id="rId18"/>
    </p:embeddedFont>
    <p:embeddedFont>
      <p:font typeface="Aileron Bold" charset="1" panose="00000800000000000000"/>
      <p:regular r:id="rId19"/>
    </p:embeddedFont>
    <p:embeddedFont>
      <p:font typeface="29LT Bukra Semi Condensed" charset="1" panose="020B0506040000000004"/>
      <p:regular r:id="rId20"/>
    </p:embeddedFont>
    <p:embeddedFont>
      <p:font typeface="Akzidenz-Grotesk Heavy" charset="1" panose="02000503050000020004"/>
      <p:regular r:id="rId21"/>
    </p:embeddedFont>
    <p:embeddedFont>
      <p:font typeface="Aileron Heavy" charset="1" panose="00000A00000000000000"/>
      <p:regular r:id="rId22"/>
    </p:embeddedFont>
    <p:embeddedFont>
      <p:font typeface="29LT Bukra Semi Condensed Ultra-Bold" charset="1" panose="020B0906040000000004"/>
      <p:regular r:id="rId23"/>
    </p:embeddedFont>
    <p:embeddedFont>
      <p:font typeface="29LT Bukra Semi Condensed Bold" charset="1" panose="020B0806040000000004"/>
      <p:regular r:id="rId24"/>
    </p:embeddedFont>
    <p:embeddedFont>
      <p:font typeface="29LT Bukra Bold" charset="1" panose="020B08040400000000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https://basededadosagro.com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jpe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http://basededadosagro.com" TargetMode="External" Type="http://schemas.openxmlformats.org/officeDocument/2006/relationships/hyperlink"/><Relationship Id="rId7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4.jpe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2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www.basededadosagro.com" TargetMode="External" Type="http://schemas.openxmlformats.org/officeDocument/2006/relationships/hyperlink"/><Relationship Id="rId4" Target="../media/image31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https://basededadosagro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961245" cy="10287000"/>
            <a:chOff x="0" y="0"/>
            <a:chExt cx="1233405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3405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33405">
                  <a:moveTo>
                    <a:pt x="0" y="0"/>
                  </a:moveTo>
                  <a:lnTo>
                    <a:pt x="1233405" y="0"/>
                  </a:lnTo>
                  <a:lnTo>
                    <a:pt x="123340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36142" t="0" r="-3614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74062" y="4138031"/>
            <a:ext cx="9500565" cy="2041203"/>
            <a:chOff x="0" y="0"/>
            <a:chExt cx="2502207" cy="5376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02207" cy="537601"/>
            </a:xfrm>
            <a:custGeom>
              <a:avLst/>
              <a:gdLst/>
              <a:ahLst/>
              <a:cxnLst/>
              <a:rect r="r" b="b" t="t" l="l"/>
              <a:pathLst>
                <a:path h="537601" w="2502207">
                  <a:moveTo>
                    <a:pt x="0" y="0"/>
                  </a:moveTo>
                  <a:lnTo>
                    <a:pt x="2502207" y="0"/>
                  </a:lnTo>
                  <a:lnTo>
                    <a:pt x="2502207" y="537601"/>
                  </a:lnTo>
                  <a:lnTo>
                    <a:pt x="0" y="537601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502207" cy="594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543368" y="672957"/>
            <a:ext cx="9777238" cy="10040421"/>
            <a:chOff x="0" y="0"/>
            <a:chExt cx="13036317" cy="133872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36317" cy="13387228"/>
            </a:xfrm>
            <a:custGeom>
              <a:avLst/>
              <a:gdLst/>
              <a:ahLst/>
              <a:cxnLst/>
              <a:rect r="r" b="b" t="t" l="l"/>
              <a:pathLst>
                <a:path h="13387228" w="13036317">
                  <a:moveTo>
                    <a:pt x="0" y="0"/>
                  </a:moveTo>
                  <a:lnTo>
                    <a:pt x="13036317" y="0"/>
                  </a:lnTo>
                  <a:lnTo>
                    <a:pt x="13036317" y="13387228"/>
                  </a:lnTo>
                  <a:lnTo>
                    <a:pt x="0" y="13387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10" t="0" r="-141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1105363" y="1238805"/>
              <a:ext cx="8436483" cy="8674418"/>
              <a:chOff x="0" y="0"/>
              <a:chExt cx="790505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79050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0505">
                    <a:moveTo>
                      <a:pt x="395253" y="0"/>
                    </a:moveTo>
                    <a:cubicBezTo>
                      <a:pt x="176961" y="0"/>
                      <a:pt x="0" y="181951"/>
                      <a:pt x="0" y="406400"/>
                    </a:cubicBezTo>
                    <a:cubicBezTo>
                      <a:pt x="0" y="630849"/>
                      <a:pt x="176961" y="812800"/>
                      <a:pt x="395253" y="812800"/>
                    </a:cubicBezTo>
                    <a:cubicBezTo>
                      <a:pt x="613545" y="812800"/>
                      <a:pt x="790505" y="630849"/>
                      <a:pt x="790505" y="406400"/>
                    </a:cubicBezTo>
                    <a:cubicBezTo>
                      <a:pt x="790505" y="181951"/>
                      <a:pt x="613545" y="0"/>
                      <a:pt x="395253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425" t="-3557" r="-215420" b="0"/>
                </a:stretch>
              </a:blip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11" id="11"/>
          <p:cNvGrpSpPr/>
          <p:nvPr/>
        </p:nvGrpSpPr>
        <p:grpSpPr>
          <a:xfrm rot="0">
            <a:off x="16718703" y="6853004"/>
            <a:ext cx="782723" cy="78272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147304" y="1361687"/>
            <a:ext cx="1850797" cy="275937"/>
          </a:xfrm>
          <a:custGeom>
            <a:avLst/>
            <a:gdLst/>
            <a:ahLst/>
            <a:cxnLst/>
            <a:rect r="r" b="b" t="t" l="l"/>
            <a:pathLst>
              <a:path h="275937" w="1850797">
                <a:moveTo>
                  <a:pt x="0" y="0"/>
                </a:moveTo>
                <a:lnTo>
                  <a:pt x="1850797" y="0"/>
                </a:lnTo>
                <a:lnTo>
                  <a:pt x="1850797" y="275937"/>
                </a:lnTo>
                <a:lnTo>
                  <a:pt x="0" y="275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1376181" y="1499656"/>
            <a:ext cx="5218904" cy="0"/>
          </a:xfrm>
          <a:prstGeom prst="line">
            <a:avLst/>
          </a:prstGeom>
          <a:ln cap="flat" w="38100">
            <a:solidFill>
              <a:srgbClr val="57755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6914139" y="7096410"/>
            <a:ext cx="443096" cy="295911"/>
          </a:xfrm>
          <a:custGeom>
            <a:avLst/>
            <a:gdLst/>
            <a:ahLst/>
            <a:cxnLst/>
            <a:rect r="r" b="b" t="t" l="l"/>
            <a:pathLst>
              <a:path h="295911" w="443096">
                <a:moveTo>
                  <a:pt x="0" y="0"/>
                </a:moveTo>
                <a:lnTo>
                  <a:pt x="443096" y="0"/>
                </a:lnTo>
                <a:lnTo>
                  <a:pt x="443096" y="295911"/>
                </a:lnTo>
                <a:lnTo>
                  <a:pt x="0" y="295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122875" y="1846254"/>
            <a:ext cx="8193558" cy="151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1"/>
              </a:lnSpc>
            </a:pPr>
            <a:r>
              <a:rPr lang="en-US" sz="7565" b="true">
                <a:solidFill>
                  <a:srgbClr val="134E1A"/>
                </a:solidFill>
                <a:latin typeface="Agrandir Narrow Heavy"/>
                <a:ea typeface="Agrandir Narrow Heavy"/>
                <a:cs typeface="Agrandir Narrow Heavy"/>
                <a:sym typeface="Agrandir Narrow Heavy"/>
              </a:rPr>
              <a:t>APRESENTAÇÃO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07321" y="4281185"/>
            <a:ext cx="722638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sz="4019" b="true">
                <a:solidFill>
                  <a:srgbClr val="322A2A"/>
                </a:solidFill>
                <a:latin typeface="29LT Bukra Semi Wide Ultra-Bold"/>
                <a:ea typeface="29LT Bukra Semi Wide Ultra-Bold"/>
                <a:cs typeface="29LT Bukra Semi Wide Ultra-Bold"/>
                <a:sym typeface="29LT Bukra Semi Wide Ultra-Bold"/>
              </a:rPr>
              <a:t>BASE DE DAODS AGRO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30628" y="4956904"/>
            <a:ext cx="7264794" cy="107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29LT Bukra"/>
                <a:ea typeface="29LT Bukra"/>
                <a:cs typeface="29LT Bukra"/>
                <a:sym typeface="29LT Bukra"/>
              </a:rPr>
              <a:t>A Infraestrutura Digital do Agronegócio Moçambicano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77826" y="3197145"/>
            <a:ext cx="7264794" cy="64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29LT Bukra"/>
                <a:ea typeface="29LT Bukra"/>
                <a:cs typeface="29LT Bukra"/>
                <a:sym typeface="29LT Bukra"/>
              </a:rPr>
              <a:t>Institucional da plataforma agrária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73113" y="825357"/>
            <a:ext cx="535031" cy="7090154"/>
            <a:chOff x="0" y="0"/>
            <a:chExt cx="140914" cy="18673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0914" cy="1867366"/>
            </a:xfrm>
            <a:custGeom>
              <a:avLst/>
              <a:gdLst/>
              <a:ahLst/>
              <a:cxnLst/>
              <a:rect r="r" b="b" t="t" l="l"/>
              <a:pathLst>
                <a:path h="1867366" w="140914">
                  <a:moveTo>
                    <a:pt x="0" y="0"/>
                  </a:moveTo>
                  <a:lnTo>
                    <a:pt x="140914" y="0"/>
                  </a:lnTo>
                  <a:lnTo>
                    <a:pt x="140914" y="1867366"/>
                  </a:lnTo>
                  <a:lnTo>
                    <a:pt x="0" y="1867366"/>
                  </a:lnTo>
                  <a:close/>
                </a:path>
              </a:pathLst>
            </a:custGeom>
            <a:solidFill>
              <a:srgbClr val="0D904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40914" cy="1924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6200" y="-76200"/>
            <a:ext cx="7961245" cy="10439400"/>
            <a:chOff x="0" y="0"/>
            <a:chExt cx="1233405" cy="16173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33405" cy="1617336"/>
            </a:xfrm>
            <a:custGeom>
              <a:avLst/>
              <a:gdLst/>
              <a:ahLst/>
              <a:cxnLst/>
              <a:rect r="r" b="b" t="t" l="l"/>
              <a:pathLst>
                <a:path h="1617336" w="1233405">
                  <a:moveTo>
                    <a:pt x="0" y="0"/>
                  </a:moveTo>
                  <a:lnTo>
                    <a:pt x="1233405" y="0"/>
                  </a:lnTo>
                  <a:lnTo>
                    <a:pt x="1233405" y="1617336"/>
                  </a:lnTo>
                  <a:lnTo>
                    <a:pt x="0" y="1617336"/>
                  </a:lnTo>
                  <a:close/>
                </a:path>
              </a:pathLst>
            </a:custGeom>
            <a:blipFill>
              <a:blip r:embed="rId2"/>
              <a:stretch>
                <a:fillRect l="-37418" t="0" r="-37418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-390968" y="825357"/>
            <a:ext cx="9777238" cy="10040421"/>
            <a:chOff x="0" y="0"/>
            <a:chExt cx="13036317" cy="133872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036317" cy="13387228"/>
            </a:xfrm>
            <a:custGeom>
              <a:avLst/>
              <a:gdLst/>
              <a:ahLst/>
              <a:cxnLst/>
              <a:rect r="r" b="b" t="t" l="l"/>
              <a:pathLst>
                <a:path h="13387228" w="13036317">
                  <a:moveTo>
                    <a:pt x="0" y="0"/>
                  </a:moveTo>
                  <a:lnTo>
                    <a:pt x="13036317" y="0"/>
                  </a:lnTo>
                  <a:lnTo>
                    <a:pt x="13036317" y="13387228"/>
                  </a:lnTo>
                  <a:lnTo>
                    <a:pt x="0" y="13387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10" t="0" r="-1410" b="0"/>
              </a:stretch>
            </a:blipFill>
          </p:spPr>
        </p:sp>
        <p:grpSp>
          <p:nvGrpSpPr>
            <p:cNvPr name="Group 28" id="28"/>
            <p:cNvGrpSpPr/>
            <p:nvPr/>
          </p:nvGrpSpPr>
          <p:grpSpPr>
            <a:xfrm rot="0">
              <a:off x="1105363" y="1238805"/>
              <a:ext cx="8436483" cy="8674418"/>
              <a:chOff x="0" y="0"/>
              <a:chExt cx="790505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9050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90505">
                    <a:moveTo>
                      <a:pt x="395253" y="0"/>
                    </a:moveTo>
                    <a:cubicBezTo>
                      <a:pt x="176961" y="0"/>
                      <a:pt x="0" y="181951"/>
                      <a:pt x="0" y="406400"/>
                    </a:cubicBezTo>
                    <a:cubicBezTo>
                      <a:pt x="0" y="630849"/>
                      <a:pt x="176961" y="812800"/>
                      <a:pt x="395253" y="812800"/>
                    </a:cubicBezTo>
                    <a:cubicBezTo>
                      <a:pt x="613545" y="812800"/>
                      <a:pt x="790505" y="630849"/>
                      <a:pt x="790505" y="406400"/>
                    </a:cubicBezTo>
                    <a:cubicBezTo>
                      <a:pt x="790505" y="181951"/>
                      <a:pt x="613545" y="0"/>
                      <a:pt x="395253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2425" t="-3557" r="-215420" b="0"/>
                </a:stretch>
              </a:blipFill>
              <a:ln cap="sq">
                <a:noFill/>
                <a:prstDash val="solid"/>
                <a:miter/>
              </a:ln>
            </p:spPr>
          </p:sp>
        </p:grpSp>
      </p:grpSp>
      <p:grpSp>
        <p:nvGrpSpPr>
          <p:cNvPr name="Group 30" id="30"/>
          <p:cNvGrpSpPr/>
          <p:nvPr/>
        </p:nvGrpSpPr>
        <p:grpSpPr>
          <a:xfrm rot="0">
            <a:off x="8974062" y="6865033"/>
            <a:ext cx="5206509" cy="770694"/>
            <a:chOff x="0" y="0"/>
            <a:chExt cx="6942012" cy="1027591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942012" cy="1027591"/>
              <a:chOff x="0" y="0"/>
              <a:chExt cx="1113882" cy="16488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113882" cy="164882"/>
              </a:xfrm>
              <a:custGeom>
                <a:avLst/>
                <a:gdLst/>
                <a:ahLst/>
                <a:cxnLst/>
                <a:rect r="r" b="b" t="t" l="l"/>
                <a:pathLst>
                  <a:path h="164882" w="1113882">
                    <a:moveTo>
                      <a:pt x="82441" y="0"/>
                    </a:moveTo>
                    <a:lnTo>
                      <a:pt x="1031441" y="0"/>
                    </a:lnTo>
                    <a:cubicBezTo>
                      <a:pt x="1076972" y="0"/>
                      <a:pt x="1113882" y="36910"/>
                      <a:pt x="1113882" y="82441"/>
                    </a:cubicBezTo>
                    <a:lnTo>
                      <a:pt x="1113882" y="82441"/>
                    </a:lnTo>
                    <a:cubicBezTo>
                      <a:pt x="1113882" y="104306"/>
                      <a:pt x="1105196" y="125275"/>
                      <a:pt x="1089735" y="140736"/>
                    </a:cubicBezTo>
                    <a:cubicBezTo>
                      <a:pt x="1074275" y="156197"/>
                      <a:pt x="1053305" y="164882"/>
                      <a:pt x="1031441" y="164882"/>
                    </a:cubicBezTo>
                    <a:lnTo>
                      <a:pt x="82441" y="164882"/>
                    </a:lnTo>
                    <a:cubicBezTo>
                      <a:pt x="60576" y="164882"/>
                      <a:pt x="39607" y="156197"/>
                      <a:pt x="24146" y="140736"/>
                    </a:cubicBezTo>
                    <a:cubicBezTo>
                      <a:pt x="8686" y="125275"/>
                      <a:pt x="0" y="104306"/>
                      <a:pt x="0" y="82441"/>
                    </a:cubicBezTo>
                    <a:lnTo>
                      <a:pt x="0" y="82441"/>
                    </a:lnTo>
                    <a:cubicBezTo>
                      <a:pt x="0" y="60576"/>
                      <a:pt x="8686" y="39607"/>
                      <a:pt x="24146" y="24146"/>
                    </a:cubicBezTo>
                    <a:cubicBezTo>
                      <a:pt x="39607" y="8686"/>
                      <a:pt x="60576" y="0"/>
                      <a:pt x="82441" y="0"/>
                    </a:cubicBezTo>
                    <a:close/>
                  </a:path>
                </a:pathLst>
              </a:custGeom>
              <a:solidFill>
                <a:srgbClr val="D9DFCE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57150"/>
                <a:ext cx="1113882" cy="22203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398489" y="264961"/>
              <a:ext cx="479806" cy="479806"/>
            </a:xfrm>
            <a:custGeom>
              <a:avLst/>
              <a:gdLst/>
              <a:ahLst/>
              <a:cxnLst/>
              <a:rect r="r" b="b" t="t" l="l"/>
              <a:pathLst>
                <a:path h="479806" w="479806">
                  <a:moveTo>
                    <a:pt x="0" y="0"/>
                  </a:moveTo>
                  <a:lnTo>
                    <a:pt x="479805" y="0"/>
                  </a:lnTo>
                  <a:lnTo>
                    <a:pt x="479805" y="479806"/>
                  </a:lnTo>
                  <a:lnTo>
                    <a:pt x="0" y="479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1057074" y="236794"/>
              <a:ext cx="5433383" cy="4885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02"/>
                </a:lnSpc>
              </a:pPr>
              <a:r>
                <a:rPr lang="en-US" b="true" sz="2216" u="sng">
                  <a:solidFill>
                    <a:srgbClr val="1800AD"/>
                  </a:solidFill>
                  <a:latin typeface="Aileron Bold"/>
                  <a:ea typeface="Aileron Bold"/>
                  <a:cs typeface="Aileron Bold"/>
                  <a:sym typeface="Aileron Bold"/>
                  <a:hlinkClick r:id="rId11" tooltip="https://basededadosagro.com"/>
                </a:rPr>
                <a:t>www.entrecamposblog.com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-484426" y="9258300"/>
            <a:ext cx="19256851" cy="1298799"/>
            <a:chOff x="0" y="0"/>
            <a:chExt cx="5071763" cy="3420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71763" cy="342071"/>
            </a:xfrm>
            <a:custGeom>
              <a:avLst/>
              <a:gdLst/>
              <a:ahLst/>
              <a:cxnLst/>
              <a:rect r="r" b="b" t="t" l="l"/>
              <a:pathLst>
                <a:path h="342071" w="5071763">
                  <a:moveTo>
                    <a:pt x="0" y="0"/>
                  </a:moveTo>
                  <a:lnTo>
                    <a:pt x="5071763" y="0"/>
                  </a:lnTo>
                  <a:lnTo>
                    <a:pt x="5071763" y="342071"/>
                  </a:lnTo>
                  <a:lnTo>
                    <a:pt x="0" y="342071"/>
                  </a:lnTo>
                  <a:close/>
                </a:path>
              </a:pathLst>
            </a:custGeom>
            <a:solidFill>
              <a:srgbClr val="134E1A"/>
            </a:solidFill>
            <a:ln w="95250" cap="sq">
              <a:solidFill>
                <a:srgbClr val="D09D09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5071763" cy="399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49208"/>
            <a:ext cx="18288000" cy="3237792"/>
            <a:chOff x="0" y="0"/>
            <a:chExt cx="4816593" cy="852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52752"/>
            </a:xfrm>
            <a:custGeom>
              <a:avLst/>
              <a:gdLst/>
              <a:ahLst/>
              <a:cxnLst/>
              <a:rect r="r" b="b" t="t" l="l"/>
              <a:pathLst>
                <a:path h="8527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52752"/>
                  </a:lnTo>
                  <a:lnTo>
                    <a:pt x="0" y="852752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09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46333" y="0"/>
            <a:ext cx="3427276" cy="4020223"/>
            <a:chOff x="0" y="0"/>
            <a:chExt cx="902657" cy="10588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2657" cy="1058824"/>
            </a:xfrm>
            <a:custGeom>
              <a:avLst/>
              <a:gdLst/>
              <a:ahLst/>
              <a:cxnLst/>
              <a:rect r="r" b="b" t="t" l="l"/>
              <a:pathLst>
                <a:path h="1058824" w="902657">
                  <a:moveTo>
                    <a:pt x="0" y="0"/>
                  </a:moveTo>
                  <a:lnTo>
                    <a:pt x="902657" y="0"/>
                  </a:lnTo>
                  <a:lnTo>
                    <a:pt x="902657" y="1058824"/>
                  </a:lnTo>
                  <a:lnTo>
                    <a:pt x="0" y="1058824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902657" cy="11159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992073" y="2286236"/>
            <a:ext cx="4880087" cy="4873987"/>
          </a:xfrm>
          <a:custGeom>
            <a:avLst/>
            <a:gdLst/>
            <a:ahLst/>
            <a:cxnLst/>
            <a:rect r="r" b="b" t="t" l="l"/>
            <a:pathLst>
              <a:path h="4873987" w="4880087">
                <a:moveTo>
                  <a:pt x="0" y="0"/>
                </a:moveTo>
                <a:lnTo>
                  <a:pt x="4880087" y="0"/>
                </a:lnTo>
                <a:lnTo>
                  <a:pt x="4880087" y="4873987"/>
                </a:lnTo>
                <a:lnTo>
                  <a:pt x="0" y="4873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576314" y="8469086"/>
            <a:ext cx="3682986" cy="789214"/>
            <a:chOff x="0" y="0"/>
            <a:chExt cx="970005" cy="2078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0005" cy="207859"/>
            </a:xfrm>
            <a:custGeom>
              <a:avLst/>
              <a:gdLst/>
              <a:ahLst/>
              <a:cxnLst/>
              <a:rect r="r" b="b" t="t" l="l"/>
              <a:pathLst>
                <a:path h="207859" w="970005">
                  <a:moveTo>
                    <a:pt x="103929" y="0"/>
                  </a:moveTo>
                  <a:lnTo>
                    <a:pt x="866075" y="0"/>
                  </a:lnTo>
                  <a:cubicBezTo>
                    <a:pt x="923474" y="0"/>
                    <a:pt x="970005" y="46531"/>
                    <a:pt x="970005" y="103929"/>
                  </a:cubicBezTo>
                  <a:lnTo>
                    <a:pt x="970005" y="103929"/>
                  </a:lnTo>
                  <a:cubicBezTo>
                    <a:pt x="970005" y="161328"/>
                    <a:pt x="923474" y="207859"/>
                    <a:pt x="866075" y="207859"/>
                  </a:cubicBezTo>
                  <a:lnTo>
                    <a:pt x="103929" y="207859"/>
                  </a:lnTo>
                  <a:cubicBezTo>
                    <a:pt x="46531" y="207859"/>
                    <a:pt x="0" y="161328"/>
                    <a:pt x="0" y="103929"/>
                  </a:cubicBezTo>
                  <a:lnTo>
                    <a:pt x="0" y="103929"/>
                  </a:lnTo>
                  <a:cubicBezTo>
                    <a:pt x="0" y="46531"/>
                    <a:pt x="46531" y="0"/>
                    <a:pt x="103929" y="0"/>
                  </a:cubicBez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70005" cy="26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270411" y="8620378"/>
            <a:ext cx="801716" cy="459165"/>
          </a:xfrm>
          <a:custGeom>
            <a:avLst/>
            <a:gdLst/>
            <a:ahLst/>
            <a:cxnLst/>
            <a:rect r="r" b="b" t="t" l="l"/>
            <a:pathLst>
              <a:path h="459165" w="801716">
                <a:moveTo>
                  <a:pt x="0" y="0"/>
                </a:moveTo>
                <a:lnTo>
                  <a:pt x="801717" y="0"/>
                </a:lnTo>
                <a:lnTo>
                  <a:pt x="801717" y="459165"/>
                </a:lnTo>
                <a:lnTo>
                  <a:pt x="0" y="4591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846333" y="2527880"/>
            <a:ext cx="3427276" cy="342727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49953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5701882" y="6382992"/>
            <a:ext cx="1709818" cy="254918"/>
          </a:xfrm>
          <a:custGeom>
            <a:avLst/>
            <a:gdLst/>
            <a:ahLst/>
            <a:cxnLst/>
            <a:rect r="r" b="b" t="t" l="l"/>
            <a:pathLst>
              <a:path h="254918" w="1709818">
                <a:moveTo>
                  <a:pt x="0" y="0"/>
                </a:moveTo>
                <a:lnTo>
                  <a:pt x="1709818" y="0"/>
                </a:lnTo>
                <a:lnTo>
                  <a:pt x="1709818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700" y="7996438"/>
            <a:ext cx="4068307" cy="1379012"/>
          </a:xfrm>
          <a:custGeom>
            <a:avLst/>
            <a:gdLst/>
            <a:ahLst/>
            <a:cxnLst/>
            <a:rect r="r" b="b" t="t" l="l"/>
            <a:pathLst>
              <a:path h="1379012" w="4068307">
                <a:moveTo>
                  <a:pt x="0" y="0"/>
                </a:moveTo>
                <a:lnTo>
                  <a:pt x="4068307" y="0"/>
                </a:lnTo>
                <a:lnTo>
                  <a:pt x="4068307" y="1379012"/>
                </a:lnTo>
                <a:lnTo>
                  <a:pt x="0" y="13790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2365152"/>
            <a:ext cx="11111489" cy="4483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99"/>
              </a:lnSpc>
            </a:pPr>
            <a:r>
              <a:rPr lang="en-US" sz="3332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A Base de dados agro nasce com a missão de responder a um desafio histórico: dotar Moçambique de um ecossistema digital agrário unificado, transparente e acessível a todos os agentes económicos, em estrito alinhamento com as directrizes do PEDSA II, PNISA II e o apelo do Presidente da República na abertura da 61.ª FACIM 2026.”</a:t>
            </a:r>
          </a:p>
          <a:p>
            <a:pPr algn="just">
              <a:lnSpc>
                <a:spcPts val="49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057275"/>
            <a:ext cx="6887334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20"/>
              </a:lnSpc>
              <a:spcBef>
                <a:spcPct val="0"/>
              </a:spcBef>
            </a:pPr>
            <a:r>
              <a:rPr lang="en-US" b="true" sz="7000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INTRODUÇÃO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57153" y="8628794"/>
            <a:ext cx="1902833" cy="431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0"/>
              </a:lnSpc>
            </a:pPr>
            <a:r>
              <a:rPr lang="en-US" b="true" sz="2500">
                <a:solidFill>
                  <a:srgbClr val="FEFFFA"/>
                </a:solidFill>
                <a:latin typeface="Aileron Heavy"/>
                <a:ea typeface="Aileron Heavy"/>
                <a:cs typeface="Aileron Heavy"/>
                <a:sym typeface="Aileron Heavy"/>
              </a:rPr>
              <a:t>NEXT PAGE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0" y="9414578"/>
            <a:ext cx="18288000" cy="959109"/>
            <a:chOff x="0" y="0"/>
            <a:chExt cx="4816593" cy="2526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16592" cy="252605"/>
            </a:xfrm>
            <a:custGeom>
              <a:avLst/>
              <a:gdLst/>
              <a:ahLst/>
              <a:cxnLst/>
              <a:rect r="r" b="b" t="t" l="l"/>
              <a:pathLst>
                <a:path h="2526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52605"/>
                  </a:lnTo>
                  <a:lnTo>
                    <a:pt x="0" y="252605"/>
                  </a:lnTo>
                  <a:close/>
                </a:path>
              </a:pathLst>
            </a:custGeom>
            <a:solidFill>
              <a:srgbClr val="134E1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4816593" cy="309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752" y="6705276"/>
            <a:ext cx="6630790" cy="3581724"/>
            <a:chOff x="0" y="0"/>
            <a:chExt cx="1746381" cy="943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6381" cy="943335"/>
            </a:xfrm>
            <a:custGeom>
              <a:avLst/>
              <a:gdLst/>
              <a:ahLst/>
              <a:cxnLst/>
              <a:rect r="r" b="b" t="t" l="l"/>
              <a:pathLst>
                <a:path h="943335" w="1746381">
                  <a:moveTo>
                    <a:pt x="0" y="0"/>
                  </a:moveTo>
                  <a:lnTo>
                    <a:pt x="1746381" y="0"/>
                  </a:lnTo>
                  <a:lnTo>
                    <a:pt x="1746381" y="943335"/>
                  </a:lnTo>
                  <a:lnTo>
                    <a:pt x="0" y="943335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46381" cy="100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2593130" y="3880972"/>
            <a:ext cx="3522035" cy="7232621"/>
          </a:xfrm>
          <a:custGeom>
            <a:avLst/>
            <a:gdLst/>
            <a:ahLst/>
            <a:cxnLst/>
            <a:rect r="r" b="b" t="t" l="l"/>
            <a:pathLst>
              <a:path h="7232621" w="3522035">
                <a:moveTo>
                  <a:pt x="0" y="0"/>
                </a:moveTo>
                <a:lnTo>
                  <a:pt x="3522034" y="0"/>
                </a:lnTo>
                <a:lnTo>
                  <a:pt x="3522034" y="7232621"/>
                </a:lnTo>
                <a:lnTo>
                  <a:pt x="0" y="7232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l="-1702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3926821"/>
            <a:chOff x="0" y="0"/>
            <a:chExt cx="4816593" cy="10342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034225"/>
            </a:xfrm>
            <a:custGeom>
              <a:avLst/>
              <a:gdLst/>
              <a:ahLst/>
              <a:cxnLst/>
              <a:rect r="r" b="b" t="t" l="l"/>
              <a:pathLst>
                <a:path h="103422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34225"/>
                  </a:lnTo>
                  <a:lnTo>
                    <a:pt x="0" y="1034225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16593" cy="109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8752" y="1028700"/>
            <a:ext cx="6630790" cy="8559300"/>
            <a:chOff x="0" y="0"/>
            <a:chExt cx="1027283" cy="13260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7283" cy="1326060"/>
            </a:xfrm>
            <a:custGeom>
              <a:avLst/>
              <a:gdLst/>
              <a:ahLst/>
              <a:cxnLst/>
              <a:rect r="r" b="b" t="t" l="l"/>
              <a:pathLst>
                <a:path h="1326060" w="1027283">
                  <a:moveTo>
                    <a:pt x="0" y="0"/>
                  </a:moveTo>
                  <a:lnTo>
                    <a:pt x="1027283" y="0"/>
                  </a:lnTo>
                  <a:lnTo>
                    <a:pt x="1027283" y="1326060"/>
                  </a:lnTo>
                  <a:lnTo>
                    <a:pt x="0" y="1326060"/>
                  </a:lnTo>
                  <a:close/>
                </a:path>
              </a:pathLst>
            </a:custGeom>
            <a:blipFill>
              <a:blip r:embed="rId3"/>
              <a:stretch>
                <a:fillRect l="-98256" t="0" r="-60761" b="-735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428508" y="1047750"/>
            <a:ext cx="9059750" cy="1918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40"/>
              </a:lnSpc>
              <a:spcBef>
                <a:spcPct val="0"/>
              </a:spcBef>
            </a:pPr>
            <a:r>
              <a:rPr lang="en-US" b="true" sz="6500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O DES</a:t>
            </a:r>
            <a:r>
              <a:rPr lang="en-US" b="true" sz="6500" strike="noStrike" u="none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AFIO DO SECTOR AGRÁRIO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70457" y="4208418"/>
            <a:ext cx="9416370" cy="504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Probl</a:t>
            </a:r>
            <a:r>
              <a:rPr lang="en-US" b="true" sz="3499" strike="noStrike" u="none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ema 1 (</a:t>
            </a:r>
            <a:r>
              <a:rPr lang="en-US" sz="3499" strike="noStrike" u="none">
                <a:solidFill>
                  <a:srgbClr val="0D9044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Fragmentação</a:t>
            </a:r>
            <a:r>
              <a:rPr lang="en-US" b="true" sz="3499" strike="noStrike" u="none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): </a:t>
            </a:r>
            <a:r>
              <a:rPr lang="en-US" sz="3499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Inexistência de um registo unificado e georeferenciado dos operadores económicos do campo.</a:t>
            </a:r>
          </a:p>
          <a:p>
            <a:pPr algn="l" marL="0" indent="0" lvl="0">
              <a:lnSpc>
                <a:spcPts val="4899"/>
              </a:lnSpc>
              <a:spcBef>
                <a:spcPct val="0"/>
              </a:spcBef>
            </a:pPr>
          </a:p>
          <a:p>
            <a:pPr algn="l" marL="755647" indent="-377824" lvl="1">
              <a:lnSpc>
                <a:spcPts val="4899"/>
              </a:lnSpc>
              <a:buFont typeface="Arial"/>
              <a:buChar char="•"/>
            </a:pPr>
            <a:r>
              <a:rPr lang="en-US" b="true" sz="3499" strike="noStrike" u="none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P</a:t>
            </a:r>
            <a:r>
              <a:rPr lang="en-US" b="true" sz="3499" strike="noStrike" u="none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roblema 2 (</a:t>
            </a:r>
            <a:r>
              <a:rPr lang="en-US" sz="3499" strike="noStrike" u="none">
                <a:solidFill>
                  <a:srgbClr val="0D9044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Acesso à Informação</a:t>
            </a:r>
            <a:r>
              <a:rPr lang="en-US" b="true" sz="3499" strike="noStrike" u="none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): </a:t>
            </a:r>
            <a:r>
              <a:rPr lang="en-US" sz="3499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Dificuldade na ligação rápida entre produtores e fornecedores certificados de sementes e fertilizantes.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480305" y="1904186"/>
            <a:ext cx="4575617" cy="3832080"/>
          </a:xfrm>
          <a:custGeom>
            <a:avLst/>
            <a:gdLst/>
            <a:ahLst/>
            <a:cxnLst/>
            <a:rect r="r" b="b" t="t" l="l"/>
            <a:pathLst>
              <a:path h="3832080" w="4575617">
                <a:moveTo>
                  <a:pt x="0" y="0"/>
                </a:moveTo>
                <a:lnTo>
                  <a:pt x="4575618" y="0"/>
                </a:lnTo>
                <a:lnTo>
                  <a:pt x="4575618" y="3832079"/>
                </a:lnTo>
                <a:lnTo>
                  <a:pt x="0" y="3832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28508" y="3297319"/>
            <a:ext cx="2158989" cy="321886"/>
          </a:xfrm>
          <a:custGeom>
            <a:avLst/>
            <a:gdLst/>
            <a:ahLst/>
            <a:cxnLst/>
            <a:rect r="r" b="b" t="t" l="l"/>
            <a:pathLst>
              <a:path h="321886" w="2158989">
                <a:moveTo>
                  <a:pt x="0" y="0"/>
                </a:moveTo>
                <a:lnTo>
                  <a:pt x="2158989" y="0"/>
                </a:lnTo>
                <a:lnTo>
                  <a:pt x="2158989" y="321886"/>
                </a:lnTo>
                <a:lnTo>
                  <a:pt x="0" y="3218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8752" y="3352638"/>
            <a:ext cx="6630790" cy="3581724"/>
            <a:chOff x="0" y="0"/>
            <a:chExt cx="1746381" cy="9433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46381" cy="943335"/>
            </a:xfrm>
            <a:custGeom>
              <a:avLst/>
              <a:gdLst/>
              <a:ahLst/>
              <a:cxnLst/>
              <a:rect r="r" b="b" t="t" l="l"/>
              <a:pathLst>
                <a:path h="943335" w="1746381">
                  <a:moveTo>
                    <a:pt x="0" y="0"/>
                  </a:moveTo>
                  <a:lnTo>
                    <a:pt x="1746381" y="0"/>
                  </a:lnTo>
                  <a:lnTo>
                    <a:pt x="1746381" y="943335"/>
                  </a:lnTo>
                  <a:lnTo>
                    <a:pt x="0" y="943335"/>
                  </a:ln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46381" cy="1000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2593130" y="1964932"/>
            <a:ext cx="3522035" cy="7232621"/>
          </a:xfrm>
          <a:custGeom>
            <a:avLst/>
            <a:gdLst/>
            <a:ahLst/>
            <a:cxnLst/>
            <a:rect r="r" b="b" t="t" l="l"/>
            <a:pathLst>
              <a:path h="7232621" w="3522035">
                <a:moveTo>
                  <a:pt x="0" y="0"/>
                </a:moveTo>
                <a:lnTo>
                  <a:pt x="3522034" y="0"/>
                </a:lnTo>
                <a:lnTo>
                  <a:pt x="3522034" y="7232621"/>
                </a:lnTo>
                <a:lnTo>
                  <a:pt x="0" y="7232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l="-1702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3926821"/>
            <a:chOff x="0" y="0"/>
            <a:chExt cx="4816593" cy="10342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034225"/>
            </a:xfrm>
            <a:custGeom>
              <a:avLst/>
              <a:gdLst/>
              <a:ahLst/>
              <a:cxnLst/>
              <a:rect r="r" b="b" t="t" l="l"/>
              <a:pathLst>
                <a:path h="103422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34225"/>
                  </a:lnTo>
                  <a:lnTo>
                    <a:pt x="0" y="1034225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816593" cy="109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38752" y="863121"/>
            <a:ext cx="6630790" cy="6071241"/>
            <a:chOff x="0" y="0"/>
            <a:chExt cx="1027283" cy="9405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7283" cy="940594"/>
            </a:xfrm>
            <a:custGeom>
              <a:avLst/>
              <a:gdLst/>
              <a:ahLst/>
              <a:cxnLst/>
              <a:rect r="r" b="b" t="t" l="l"/>
              <a:pathLst>
                <a:path h="940594" w="1027283">
                  <a:moveTo>
                    <a:pt x="0" y="0"/>
                  </a:moveTo>
                  <a:lnTo>
                    <a:pt x="1027283" y="0"/>
                  </a:lnTo>
                  <a:lnTo>
                    <a:pt x="1027283" y="940594"/>
                  </a:lnTo>
                  <a:lnTo>
                    <a:pt x="0" y="940594"/>
                  </a:lnTo>
                  <a:close/>
                </a:path>
              </a:pathLst>
            </a:custGeom>
            <a:blipFill>
              <a:blip r:embed="rId3"/>
              <a:stretch>
                <a:fillRect l="-55160" t="0" r="-28564" b="-735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99483" y="1047750"/>
            <a:ext cx="9059750" cy="96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40"/>
              </a:lnSpc>
              <a:spcBef>
                <a:spcPct val="0"/>
              </a:spcBef>
            </a:pPr>
            <a:r>
              <a:rPr lang="en-US" b="true" sz="6500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CONTINUAÇÃO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70457" y="4208418"/>
            <a:ext cx="9517801" cy="197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2"/>
              </a:lnSpc>
            </a:pPr>
            <a:r>
              <a:rPr lang="en-US" b="true" sz="3537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Problemas 3. (</a:t>
            </a:r>
            <a:r>
              <a:rPr lang="en-US" sz="3537" strike="noStrike" u="none">
                <a:solidFill>
                  <a:srgbClr val="0D9044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Custos do Estado</a:t>
            </a:r>
            <a:r>
              <a:rPr lang="en-US" b="true" sz="3537" strike="noStrike" u="none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):  </a:t>
            </a:r>
            <a:r>
              <a:rPr lang="en-US" sz="3537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Elevados encargos do FAR, IP e MADER para mapear beneficiários e fornecedores em cada ciclo agrário.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161285"/>
            <a:ext cx="16459559" cy="197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2"/>
              </a:lnSpc>
            </a:pPr>
            <a:r>
              <a:rPr lang="en-US" b="true" sz="3537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4. informação disp</a:t>
            </a:r>
            <a:r>
              <a:rPr lang="en-US" b="true" sz="3537" strike="noStrike" u="none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ersa:  </a:t>
            </a:r>
            <a:r>
              <a:rPr lang="en-US" sz="3537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A ausência de um directório unificado gera ineficiências e atrasos no fomento. O extensionista ou produtor em Manica ou Nampula muitas vezes não sabe onde encontrar um fornecedor certificado de insumos.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480305" y="1904186"/>
            <a:ext cx="4575617" cy="3832080"/>
          </a:xfrm>
          <a:custGeom>
            <a:avLst/>
            <a:gdLst/>
            <a:ahLst/>
            <a:cxnLst/>
            <a:rect r="r" b="b" t="t" l="l"/>
            <a:pathLst>
              <a:path h="3832080" w="4575617">
                <a:moveTo>
                  <a:pt x="0" y="0"/>
                </a:moveTo>
                <a:lnTo>
                  <a:pt x="4575618" y="0"/>
                </a:lnTo>
                <a:lnTo>
                  <a:pt x="4575618" y="3832079"/>
                </a:lnTo>
                <a:lnTo>
                  <a:pt x="0" y="3832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329879" y="2291409"/>
            <a:ext cx="2158989" cy="321886"/>
          </a:xfrm>
          <a:custGeom>
            <a:avLst/>
            <a:gdLst/>
            <a:ahLst/>
            <a:cxnLst/>
            <a:rect r="r" b="b" t="t" l="l"/>
            <a:pathLst>
              <a:path h="321886" w="2158989">
                <a:moveTo>
                  <a:pt x="0" y="0"/>
                </a:moveTo>
                <a:lnTo>
                  <a:pt x="2158989" y="0"/>
                </a:lnTo>
                <a:lnTo>
                  <a:pt x="2158989" y="321886"/>
                </a:lnTo>
                <a:lnTo>
                  <a:pt x="0" y="3218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0" y="9414578"/>
            <a:ext cx="18288000" cy="959109"/>
            <a:chOff x="0" y="0"/>
            <a:chExt cx="4816593" cy="2526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6592" cy="252605"/>
            </a:xfrm>
            <a:custGeom>
              <a:avLst/>
              <a:gdLst/>
              <a:ahLst/>
              <a:cxnLst/>
              <a:rect r="r" b="b" t="t" l="l"/>
              <a:pathLst>
                <a:path h="2526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52605"/>
                  </a:lnTo>
                  <a:lnTo>
                    <a:pt x="0" y="252605"/>
                  </a:lnTo>
                  <a:close/>
                </a:path>
              </a:pathLst>
            </a:custGeom>
            <a:solidFill>
              <a:srgbClr val="134E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4816593" cy="309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6230017" cy="3953284"/>
            <a:chOff x="0" y="0"/>
            <a:chExt cx="8306689" cy="5271045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16881" y="1955462"/>
              <a:ext cx="7989808" cy="1036813"/>
              <a:chOff x="0" y="0"/>
              <a:chExt cx="1674736" cy="21732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674736" cy="217325"/>
              </a:xfrm>
              <a:custGeom>
                <a:avLst/>
                <a:gdLst/>
                <a:ahLst/>
                <a:cxnLst/>
                <a:rect r="r" b="b" t="t" l="l"/>
                <a:pathLst>
                  <a:path h="217325" w="1674736">
                    <a:moveTo>
                      <a:pt x="0" y="0"/>
                    </a:moveTo>
                    <a:lnTo>
                      <a:pt x="1674736" y="0"/>
                    </a:lnTo>
                    <a:lnTo>
                      <a:pt x="1674736" y="217325"/>
                    </a:lnTo>
                    <a:lnTo>
                      <a:pt x="0" y="217325"/>
                    </a:lnTo>
                    <a:close/>
                  </a:path>
                </a:pathLst>
              </a:custGeom>
              <a:solidFill>
                <a:srgbClr val="F5F8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57150"/>
                <a:ext cx="1674736" cy="274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1945502"/>
              <a:ext cx="1024361" cy="1057470"/>
              <a:chOff x="0" y="0"/>
              <a:chExt cx="214715" cy="22165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14715" cy="221655"/>
              </a:xfrm>
              <a:custGeom>
                <a:avLst/>
                <a:gdLst/>
                <a:ahLst/>
                <a:cxnLst/>
                <a:rect r="r" b="b" t="t" l="l"/>
                <a:pathLst>
                  <a:path h="221655" w="214715">
                    <a:moveTo>
                      <a:pt x="0" y="0"/>
                    </a:moveTo>
                    <a:lnTo>
                      <a:pt x="214715" y="0"/>
                    </a:lnTo>
                    <a:lnTo>
                      <a:pt x="214715" y="221655"/>
                    </a:lnTo>
                    <a:lnTo>
                      <a:pt x="0" y="221655"/>
                    </a:lnTo>
                    <a:close/>
                  </a:path>
                </a:pathLst>
              </a:custGeom>
              <a:solidFill>
                <a:srgbClr val="57755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214715" cy="278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28399" y="2199479"/>
              <a:ext cx="367562" cy="549517"/>
            </a:xfrm>
            <a:custGeom>
              <a:avLst/>
              <a:gdLst/>
              <a:ahLst/>
              <a:cxnLst/>
              <a:rect r="r" b="b" t="t" l="l"/>
              <a:pathLst>
                <a:path h="549517" w="367562">
                  <a:moveTo>
                    <a:pt x="0" y="0"/>
                  </a:moveTo>
                  <a:lnTo>
                    <a:pt x="367562" y="0"/>
                  </a:lnTo>
                  <a:lnTo>
                    <a:pt x="367562" y="549516"/>
                  </a:lnTo>
                  <a:lnTo>
                    <a:pt x="0" y="549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153892" y="2064939"/>
              <a:ext cx="1135196" cy="726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8"/>
                </a:lnSpc>
              </a:pPr>
              <a:r>
                <a:rPr lang="en-US" sz="2827" b="true">
                  <a:solidFill>
                    <a:srgbClr val="134E1A"/>
                  </a:solidFill>
                  <a:latin typeface="29LT Bukra Semi Condensed Bold"/>
                  <a:ea typeface="29LT Bukra Semi Condensed Bold"/>
                  <a:cs typeface="29LT Bukra Semi Condensed Bold"/>
                  <a:sym typeface="29LT Bukra Semi Condensed Bold"/>
                </a:rPr>
                <a:t>PIB 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4598916" y="2103039"/>
              <a:ext cx="3369234" cy="564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6"/>
                </a:lnSpc>
                <a:spcBef>
                  <a:spcPct val="0"/>
                </a:spcBef>
              </a:pPr>
              <a:r>
                <a:rPr lang="en-US" sz="2261">
                  <a:solidFill>
                    <a:srgbClr val="134E1A"/>
                  </a:solidFill>
                  <a:latin typeface="29LT Bukra"/>
                  <a:ea typeface="29LT Bukra"/>
                  <a:cs typeface="29LT Bukra"/>
                  <a:sym typeface="29LT Bukra"/>
                </a:rPr>
                <a:t>91.4B MZN (24%) </a:t>
              </a:r>
            </a:p>
          </p:txBody>
        </p:sp>
        <p:sp>
          <p:nvSpPr>
            <p:cNvPr name="AutoShape 12" id="12"/>
            <p:cNvSpPr/>
            <p:nvPr/>
          </p:nvSpPr>
          <p:spPr>
            <a:xfrm flipV="true">
              <a:off x="4335616" y="2036217"/>
              <a:ext cx="0" cy="803466"/>
            </a:xfrm>
            <a:prstGeom prst="line">
              <a:avLst/>
            </a:prstGeom>
            <a:ln cap="flat" w="2393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316881" y="3062813"/>
              <a:ext cx="7989808" cy="1057470"/>
              <a:chOff x="0" y="0"/>
              <a:chExt cx="1674736" cy="22165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74736" cy="221655"/>
              </a:xfrm>
              <a:custGeom>
                <a:avLst/>
                <a:gdLst/>
                <a:ahLst/>
                <a:cxnLst/>
                <a:rect r="r" b="b" t="t" l="l"/>
                <a:pathLst>
                  <a:path h="221655" w="1674736">
                    <a:moveTo>
                      <a:pt x="0" y="0"/>
                    </a:moveTo>
                    <a:lnTo>
                      <a:pt x="1674736" y="0"/>
                    </a:lnTo>
                    <a:lnTo>
                      <a:pt x="1674736" y="221655"/>
                    </a:lnTo>
                    <a:lnTo>
                      <a:pt x="0" y="221655"/>
                    </a:lnTo>
                    <a:close/>
                  </a:path>
                </a:pathLst>
              </a:custGeom>
              <a:solidFill>
                <a:srgbClr val="F5F8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1674736" cy="278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3083819"/>
              <a:ext cx="1024361" cy="1057470"/>
              <a:chOff x="0" y="0"/>
              <a:chExt cx="214715" cy="22165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14715" cy="221655"/>
              </a:xfrm>
              <a:custGeom>
                <a:avLst/>
                <a:gdLst/>
                <a:ahLst/>
                <a:cxnLst/>
                <a:rect r="r" b="b" t="t" l="l"/>
                <a:pathLst>
                  <a:path h="221655" w="214715">
                    <a:moveTo>
                      <a:pt x="0" y="0"/>
                    </a:moveTo>
                    <a:lnTo>
                      <a:pt x="214715" y="0"/>
                    </a:lnTo>
                    <a:lnTo>
                      <a:pt x="214715" y="221655"/>
                    </a:lnTo>
                    <a:lnTo>
                      <a:pt x="0" y="221655"/>
                    </a:lnTo>
                    <a:close/>
                  </a:path>
                </a:pathLst>
              </a:custGeom>
              <a:solidFill>
                <a:srgbClr val="57755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214715" cy="278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Freeform 19" id="19"/>
            <p:cNvSpPr/>
            <p:nvPr/>
          </p:nvSpPr>
          <p:spPr>
            <a:xfrm flipH="false" flipV="false" rot="0">
              <a:off x="328399" y="3337795"/>
              <a:ext cx="367562" cy="549517"/>
            </a:xfrm>
            <a:custGeom>
              <a:avLst/>
              <a:gdLst/>
              <a:ahLst/>
              <a:cxnLst/>
              <a:rect r="r" b="b" t="t" l="l"/>
              <a:pathLst>
                <a:path h="549517" w="367562">
                  <a:moveTo>
                    <a:pt x="0" y="0"/>
                  </a:moveTo>
                  <a:lnTo>
                    <a:pt x="367562" y="0"/>
                  </a:lnTo>
                  <a:lnTo>
                    <a:pt x="367562" y="549517"/>
                  </a:lnTo>
                  <a:lnTo>
                    <a:pt x="0" y="5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586294" y="3235152"/>
              <a:ext cx="2270392" cy="726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8"/>
                </a:lnSpc>
              </a:pPr>
              <a:r>
                <a:rPr lang="en-US" sz="2827" b="true">
                  <a:solidFill>
                    <a:srgbClr val="134E1A"/>
                  </a:solidFill>
                  <a:latin typeface="29LT Bukra Semi Condensed Bold"/>
                  <a:ea typeface="29LT Bukra Semi Condensed Bold"/>
                  <a:cs typeface="29LT Bukra Semi Condensed Bold"/>
                  <a:sym typeface="29LT Bukra Semi Condensed Bold"/>
                </a:rPr>
                <a:t>Emprego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598916" y="3273252"/>
              <a:ext cx="984758" cy="564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6"/>
                </a:lnSpc>
                <a:spcBef>
                  <a:spcPct val="0"/>
                </a:spcBef>
              </a:pPr>
              <a:r>
                <a:rPr lang="en-US" sz="2261">
                  <a:solidFill>
                    <a:srgbClr val="134E1A"/>
                  </a:solidFill>
                  <a:latin typeface="29LT Bukra"/>
                  <a:ea typeface="29LT Bukra"/>
                  <a:cs typeface="29LT Bukra"/>
                  <a:sym typeface="29LT Bukra"/>
                </a:rPr>
                <a:t>70%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flipV="true">
              <a:off x="4335616" y="3206431"/>
              <a:ext cx="0" cy="803466"/>
            </a:xfrm>
            <a:prstGeom prst="line">
              <a:avLst/>
            </a:prstGeom>
            <a:ln cap="flat" w="2393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316881" y="4201129"/>
              <a:ext cx="7989808" cy="1057470"/>
              <a:chOff x="0" y="0"/>
              <a:chExt cx="1674736" cy="221655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674736" cy="221655"/>
              </a:xfrm>
              <a:custGeom>
                <a:avLst/>
                <a:gdLst/>
                <a:ahLst/>
                <a:cxnLst/>
                <a:rect r="r" b="b" t="t" l="l"/>
                <a:pathLst>
                  <a:path h="221655" w="1674736">
                    <a:moveTo>
                      <a:pt x="0" y="0"/>
                    </a:moveTo>
                    <a:lnTo>
                      <a:pt x="1674736" y="0"/>
                    </a:lnTo>
                    <a:lnTo>
                      <a:pt x="1674736" y="221655"/>
                    </a:lnTo>
                    <a:lnTo>
                      <a:pt x="0" y="221655"/>
                    </a:lnTo>
                    <a:close/>
                  </a:path>
                </a:pathLst>
              </a:custGeom>
              <a:solidFill>
                <a:srgbClr val="F5F8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1674736" cy="278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4213575"/>
              <a:ext cx="1024361" cy="1057470"/>
              <a:chOff x="0" y="0"/>
              <a:chExt cx="214715" cy="221655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14715" cy="221655"/>
              </a:xfrm>
              <a:custGeom>
                <a:avLst/>
                <a:gdLst/>
                <a:ahLst/>
                <a:cxnLst/>
                <a:rect r="r" b="b" t="t" l="l"/>
                <a:pathLst>
                  <a:path h="221655" w="214715">
                    <a:moveTo>
                      <a:pt x="0" y="0"/>
                    </a:moveTo>
                    <a:lnTo>
                      <a:pt x="214715" y="0"/>
                    </a:lnTo>
                    <a:lnTo>
                      <a:pt x="214715" y="221655"/>
                    </a:lnTo>
                    <a:lnTo>
                      <a:pt x="0" y="221655"/>
                    </a:lnTo>
                    <a:close/>
                  </a:path>
                </a:pathLst>
              </a:custGeom>
              <a:solidFill>
                <a:srgbClr val="577550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214715" cy="278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328399" y="4467551"/>
              <a:ext cx="367562" cy="549517"/>
            </a:xfrm>
            <a:custGeom>
              <a:avLst/>
              <a:gdLst/>
              <a:ahLst/>
              <a:cxnLst/>
              <a:rect r="r" b="b" t="t" l="l"/>
              <a:pathLst>
                <a:path h="549517" w="367562">
                  <a:moveTo>
                    <a:pt x="0" y="0"/>
                  </a:moveTo>
                  <a:lnTo>
                    <a:pt x="367562" y="0"/>
                  </a:lnTo>
                  <a:lnTo>
                    <a:pt x="367562" y="549517"/>
                  </a:lnTo>
                  <a:lnTo>
                    <a:pt x="0" y="5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131195" y="4338579"/>
              <a:ext cx="3180590" cy="726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8"/>
                </a:lnSpc>
              </a:pPr>
              <a:r>
                <a:rPr lang="en-US" sz="2827" b="true">
                  <a:solidFill>
                    <a:srgbClr val="134E1A"/>
                  </a:solidFill>
                  <a:latin typeface="29LT Bukra Semi Condensed Bold"/>
                  <a:ea typeface="29LT Bukra Semi Condensed Bold"/>
                  <a:cs typeface="29LT Bukra Semi Condensed Bold"/>
                  <a:sym typeface="29LT Bukra Semi Condensed Bold"/>
                </a:rPr>
                <a:t>Mapeamento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598916" y="4438914"/>
              <a:ext cx="3102380" cy="564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6"/>
                </a:lnSpc>
                <a:spcBef>
                  <a:spcPct val="0"/>
                </a:spcBef>
              </a:pPr>
              <a:r>
                <a:rPr lang="en-US" sz="2261">
                  <a:solidFill>
                    <a:srgbClr val="134E1A"/>
                  </a:solidFill>
                  <a:latin typeface="29LT Bukra"/>
                  <a:ea typeface="29LT Bukra"/>
                  <a:cs typeface="29LT Bukra"/>
                  <a:sym typeface="29LT Bukra"/>
                </a:rPr>
                <a:t>950+ empresas </a:t>
              </a:r>
            </a:p>
          </p:txBody>
        </p:sp>
        <p:sp>
          <p:nvSpPr>
            <p:cNvPr name="AutoShape 32" id="32"/>
            <p:cNvSpPr/>
            <p:nvPr/>
          </p:nvSpPr>
          <p:spPr>
            <a:xfrm flipV="true">
              <a:off x="4335616" y="4372092"/>
              <a:ext cx="0" cy="803466"/>
            </a:xfrm>
            <a:prstGeom prst="line">
              <a:avLst/>
            </a:prstGeom>
            <a:ln cap="flat" w="2393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3" id="33"/>
            <p:cNvGrpSpPr/>
            <p:nvPr/>
          </p:nvGrpSpPr>
          <p:grpSpPr>
            <a:xfrm rot="0">
              <a:off x="316881" y="785923"/>
              <a:ext cx="7989808" cy="1051372"/>
              <a:chOff x="0" y="0"/>
              <a:chExt cx="1674736" cy="22037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674736" cy="220377"/>
              </a:xfrm>
              <a:custGeom>
                <a:avLst/>
                <a:gdLst/>
                <a:ahLst/>
                <a:cxnLst/>
                <a:rect r="r" b="b" t="t" l="l"/>
                <a:pathLst>
                  <a:path h="220377" w="1674736">
                    <a:moveTo>
                      <a:pt x="0" y="0"/>
                    </a:moveTo>
                    <a:lnTo>
                      <a:pt x="1674736" y="0"/>
                    </a:lnTo>
                    <a:lnTo>
                      <a:pt x="1674736" y="220377"/>
                    </a:lnTo>
                    <a:lnTo>
                      <a:pt x="0" y="220377"/>
                    </a:lnTo>
                    <a:close/>
                  </a:path>
                </a:pathLst>
              </a:custGeom>
              <a:solidFill>
                <a:srgbClr val="F5F8E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57150"/>
                <a:ext cx="1674736" cy="2775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5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0" y="804255"/>
              <a:ext cx="1024361" cy="1057470"/>
              <a:chOff x="0" y="0"/>
              <a:chExt cx="214715" cy="22165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214715" cy="221655"/>
              </a:xfrm>
              <a:custGeom>
                <a:avLst/>
                <a:gdLst/>
                <a:ahLst/>
                <a:cxnLst/>
                <a:rect r="r" b="b" t="t" l="l"/>
                <a:pathLst>
                  <a:path h="221655" w="214715">
                    <a:moveTo>
                      <a:pt x="0" y="0"/>
                    </a:moveTo>
                    <a:lnTo>
                      <a:pt x="214715" y="0"/>
                    </a:lnTo>
                    <a:lnTo>
                      <a:pt x="214715" y="221655"/>
                    </a:lnTo>
                    <a:lnTo>
                      <a:pt x="0" y="221655"/>
                    </a:lnTo>
                    <a:close/>
                  </a:path>
                </a:pathLst>
              </a:custGeom>
              <a:solidFill>
                <a:srgbClr val="57755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57150"/>
                <a:ext cx="214715" cy="2788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328399" y="1058232"/>
              <a:ext cx="367562" cy="549517"/>
            </a:xfrm>
            <a:custGeom>
              <a:avLst/>
              <a:gdLst/>
              <a:ahLst/>
              <a:cxnLst/>
              <a:rect r="r" b="b" t="t" l="l"/>
              <a:pathLst>
                <a:path h="549517" w="367562">
                  <a:moveTo>
                    <a:pt x="0" y="0"/>
                  </a:moveTo>
                  <a:lnTo>
                    <a:pt x="367562" y="0"/>
                  </a:lnTo>
                  <a:lnTo>
                    <a:pt x="367562" y="549516"/>
                  </a:lnTo>
                  <a:lnTo>
                    <a:pt x="0" y="549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1586294" y="918194"/>
              <a:ext cx="2270392" cy="7268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8"/>
                </a:lnSpc>
              </a:pPr>
              <a:r>
                <a:rPr lang="en-US" sz="2827" b="true">
                  <a:solidFill>
                    <a:srgbClr val="134E1A"/>
                  </a:solidFill>
                  <a:latin typeface="29LT Bukra Semi Condensed Bold"/>
                  <a:ea typeface="29LT Bukra Semi Condensed Bold"/>
                  <a:cs typeface="29LT Bukra Semi Condensed Bold"/>
                  <a:sym typeface="29LT Bukra Semi Condensed Bold"/>
                </a:rPr>
                <a:t>Produção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4598916" y="956294"/>
              <a:ext cx="3384942" cy="564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6"/>
                </a:lnSpc>
                <a:spcBef>
                  <a:spcPct val="0"/>
                </a:spcBef>
              </a:pPr>
              <a:r>
                <a:rPr lang="en-US" sz="2261">
                  <a:solidFill>
                    <a:srgbClr val="134E1A"/>
                  </a:solidFill>
                  <a:latin typeface="29LT Bukra"/>
                  <a:ea typeface="29LT Bukra"/>
                  <a:cs typeface="29LT Bukra"/>
                  <a:sym typeface="29LT Bukra"/>
                </a:rPr>
                <a:t>20M+ Tons (+5%)</a:t>
              </a:r>
            </a:p>
          </p:txBody>
        </p:sp>
        <p:sp>
          <p:nvSpPr>
            <p:cNvPr name="AutoShape 42" id="42"/>
            <p:cNvSpPr/>
            <p:nvPr/>
          </p:nvSpPr>
          <p:spPr>
            <a:xfrm flipV="true">
              <a:off x="4335616" y="889473"/>
              <a:ext cx="0" cy="803466"/>
            </a:xfrm>
            <a:prstGeom prst="line">
              <a:avLst/>
            </a:prstGeom>
            <a:ln cap="flat" w="23936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3" id="43"/>
            <p:cNvGrpSpPr/>
            <p:nvPr/>
          </p:nvGrpSpPr>
          <p:grpSpPr>
            <a:xfrm rot="0">
              <a:off x="0" y="0"/>
              <a:ext cx="8306689" cy="711710"/>
              <a:chOff x="0" y="0"/>
              <a:chExt cx="1741157" cy="14918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741157" cy="149181"/>
              </a:xfrm>
              <a:custGeom>
                <a:avLst/>
                <a:gdLst/>
                <a:ahLst/>
                <a:cxnLst/>
                <a:rect r="r" b="b" t="t" l="l"/>
                <a:pathLst>
                  <a:path h="149181" w="1741157">
                    <a:moveTo>
                      <a:pt x="0" y="0"/>
                    </a:moveTo>
                    <a:lnTo>
                      <a:pt x="1741157" y="0"/>
                    </a:lnTo>
                    <a:lnTo>
                      <a:pt x="1741157" y="149181"/>
                    </a:lnTo>
                    <a:lnTo>
                      <a:pt x="0" y="149181"/>
                    </a:lnTo>
                    <a:close/>
                  </a:path>
                </a:pathLst>
              </a:custGeom>
              <a:solidFill>
                <a:srgbClr val="0D9044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57150"/>
                <a:ext cx="1741157" cy="20633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303791" y="41739"/>
              <a:ext cx="7696113" cy="580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94"/>
                </a:lnSpc>
                <a:spcBef>
                  <a:spcPct val="0"/>
                </a:spcBef>
              </a:pPr>
              <a:r>
                <a:rPr lang="en-US" b="true" sz="2638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Dados Macroeconómicos Reais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7572661" y="1843846"/>
            <a:ext cx="2061808" cy="307397"/>
          </a:xfrm>
          <a:custGeom>
            <a:avLst/>
            <a:gdLst/>
            <a:ahLst/>
            <a:cxnLst/>
            <a:rect r="r" b="b" t="t" l="l"/>
            <a:pathLst>
              <a:path h="307397" w="2061808">
                <a:moveTo>
                  <a:pt x="0" y="0"/>
                </a:moveTo>
                <a:lnTo>
                  <a:pt x="2061808" y="0"/>
                </a:lnTo>
                <a:lnTo>
                  <a:pt x="2061808" y="307396"/>
                </a:lnTo>
                <a:lnTo>
                  <a:pt x="0" y="307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0" y="9414578"/>
            <a:ext cx="18288000" cy="959109"/>
            <a:chOff x="0" y="0"/>
            <a:chExt cx="4816593" cy="25260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16592" cy="252605"/>
            </a:xfrm>
            <a:custGeom>
              <a:avLst/>
              <a:gdLst/>
              <a:ahLst/>
              <a:cxnLst/>
              <a:rect r="r" b="b" t="t" l="l"/>
              <a:pathLst>
                <a:path h="2526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52605"/>
                  </a:lnTo>
                  <a:lnTo>
                    <a:pt x="0" y="252605"/>
                  </a:lnTo>
                  <a:close/>
                </a:path>
              </a:pathLst>
            </a:custGeom>
            <a:solidFill>
              <a:srgbClr val="134E1A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4816593" cy="309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" y="5414934"/>
            <a:ext cx="6230017" cy="3566693"/>
            <a:chOff x="0" y="0"/>
            <a:chExt cx="965193" cy="552574"/>
          </a:xfrm>
        </p:grpSpPr>
        <p:sp>
          <p:nvSpPr>
            <p:cNvPr name="Freeform 52" id="52">
              <a:hlinkClick r:id="rId6" tooltip="http://basededadosagro.com"/>
            </p:cNvPr>
            <p:cNvSpPr/>
            <p:nvPr/>
          </p:nvSpPr>
          <p:spPr>
            <a:xfrm flipH="false" flipV="false" rot="0">
              <a:off x="0" y="0"/>
              <a:ext cx="965193" cy="552574"/>
            </a:xfrm>
            <a:custGeom>
              <a:avLst/>
              <a:gdLst/>
              <a:ahLst/>
              <a:cxnLst/>
              <a:rect r="r" b="b" t="t" l="l"/>
              <a:pathLst>
                <a:path h="552574" w="965193">
                  <a:moveTo>
                    <a:pt x="0" y="0"/>
                  </a:moveTo>
                  <a:lnTo>
                    <a:pt x="965193" y="0"/>
                  </a:lnTo>
                  <a:lnTo>
                    <a:pt x="965193" y="552574"/>
                  </a:lnTo>
                  <a:lnTo>
                    <a:pt x="0" y="552574"/>
                  </a:lnTo>
                  <a:close/>
                </a:path>
              </a:pathLst>
            </a:custGeom>
            <a:blipFill>
              <a:blip r:embed="rId7"/>
              <a:stretch>
                <a:fillRect l="-2045" t="0" r="-2045" b="0"/>
              </a:stretch>
            </a:blipFill>
            <a:ln w="19050" cap="sq">
              <a:solidFill>
                <a:srgbClr val="ABA194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7572661" y="965641"/>
            <a:ext cx="9874014" cy="878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60"/>
              </a:lnSpc>
              <a:spcBef>
                <a:spcPct val="0"/>
              </a:spcBef>
            </a:pPr>
            <a:r>
              <a:rPr lang="en-US" b="true" sz="6000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 SOL</a:t>
            </a:r>
            <a:r>
              <a:rPr lang="en-US" b="true" sz="6000" strike="noStrike" u="none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UÇÃO!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547135" y="2336414"/>
            <a:ext cx="9791317" cy="195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O qu</a:t>
            </a:r>
            <a:r>
              <a:rPr lang="en-US" b="true" sz="3500" strike="noStrike" u="none">
                <a:solidFill>
                  <a:srgbClr val="322A2A"/>
                </a:solidFill>
                <a:latin typeface="29LT Bukra Semi Condensed Ultra-Bold"/>
                <a:ea typeface="29LT Bukra Semi Condensed Ultra-Bold"/>
                <a:cs typeface="29LT Bukra Semi Condensed Ultra-Bold"/>
                <a:sym typeface="29LT Bukra Semi Condensed Ultra-Bold"/>
              </a:rPr>
              <a:t>e é — </a:t>
            </a:r>
            <a:r>
              <a:rPr lang="en-US" sz="3500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Plataforma digital unificada de cobertura nacional que conecta produtores, fornecedores, consumidores e agentes do Estado.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599474" y="4537262"/>
            <a:ext cx="9686639" cy="444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3500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A B</a:t>
            </a:r>
            <a:r>
              <a:rPr lang="en-US" sz="3500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ase de Dados Agro surge precisamente para ser a resposta digital aos diferentes desafios. </a:t>
            </a:r>
          </a:p>
          <a:p>
            <a:pPr algn="l">
              <a:lnSpc>
                <a:spcPts val="2415"/>
              </a:lnSpc>
            </a:pPr>
          </a:p>
          <a:p>
            <a:pPr algn="l">
              <a:lnSpc>
                <a:spcPts val="5355"/>
              </a:lnSpc>
            </a:pPr>
            <a:r>
              <a:rPr lang="en-US" sz="3500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Os dados oficiais do INE e MADER mostram que o sector agrícola gera 91.4 mil milhões de MZN no PIB e emprega 70% da nossa população, com cerca de </a:t>
            </a:r>
          </a:p>
          <a:p>
            <a:pPr algn="l">
              <a:lnSpc>
                <a:spcPts val="5355"/>
              </a:lnSpc>
            </a:pPr>
            <a:r>
              <a:rPr lang="en-US" sz="3500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2 000 empresas activas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5762" y="2545877"/>
            <a:ext cx="2061808" cy="307397"/>
          </a:xfrm>
          <a:custGeom>
            <a:avLst/>
            <a:gdLst/>
            <a:ahLst/>
            <a:cxnLst/>
            <a:rect r="r" b="b" t="t" l="l"/>
            <a:pathLst>
              <a:path h="307397" w="2061808">
                <a:moveTo>
                  <a:pt x="0" y="0"/>
                </a:moveTo>
                <a:lnTo>
                  <a:pt x="2061808" y="0"/>
                </a:lnTo>
                <a:lnTo>
                  <a:pt x="2061808" y="307397"/>
                </a:lnTo>
                <a:lnTo>
                  <a:pt x="0" y="307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540763"/>
            <a:ext cx="18288000" cy="959109"/>
            <a:chOff x="0" y="0"/>
            <a:chExt cx="4816593" cy="2526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52605"/>
            </a:xfrm>
            <a:custGeom>
              <a:avLst/>
              <a:gdLst/>
              <a:ahLst/>
              <a:cxnLst/>
              <a:rect r="r" b="b" t="t" l="l"/>
              <a:pathLst>
                <a:path h="2526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52605"/>
                  </a:lnTo>
                  <a:lnTo>
                    <a:pt x="0" y="252605"/>
                  </a:lnTo>
                  <a:close/>
                </a:path>
              </a:pathLst>
            </a:custGeom>
            <a:solidFill>
              <a:srgbClr val="134E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816593" cy="309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230082" y="3349201"/>
            <a:ext cx="9057918" cy="5750097"/>
          </a:xfrm>
          <a:custGeom>
            <a:avLst/>
            <a:gdLst/>
            <a:ahLst/>
            <a:cxnLst/>
            <a:rect r="r" b="b" t="t" l="l"/>
            <a:pathLst>
              <a:path h="5750097" w="9057918">
                <a:moveTo>
                  <a:pt x="0" y="0"/>
                </a:moveTo>
                <a:lnTo>
                  <a:pt x="9057918" y="0"/>
                </a:lnTo>
                <a:lnTo>
                  <a:pt x="9057918" y="5750097"/>
                </a:lnTo>
                <a:lnTo>
                  <a:pt x="0" y="5750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3049" t="0" r="-1265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55695"/>
            <a:ext cx="16338824" cy="175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960"/>
              </a:lnSpc>
              <a:spcBef>
                <a:spcPct val="0"/>
              </a:spcBef>
            </a:pPr>
            <a:r>
              <a:rPr lang="en-US" b="true" sz="6000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INDICADORES MACROECONÓMICOS</a:t>
            </a:r>
            <a:r>
              <a:rPr lang="en-US" b="true" sz="6000" strike="noStrike" u="none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OFICIAIS (INE/MADER)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4782" y="3407692"/>
            <a:ext cx="8115300" cy="555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b="true" sz="2237" strike="noStrike" u="non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Produção Agrária Nacional (2025/26): </a:t>
            </a:r>
          </a:p>
          <a:p>
            <a:pPr algn="l">
              <a:lnSpc>
                <a:spcPts val="2730"/>
              </a:lnSpc>
            </a:pPr>
            <a:r>
              <a:rPr lang="en-US" sz="2237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20M+ de Toneladas (+5% de crescimento anual).</a:t>
            </a: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  <a:r>
              <a:rPr lang="en-US" b="true" sz="2237" strike="noStrike" u="non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PIB Agrícola Nacional (Q2 2025):  </a:t>
            </a:r>
          </a:p>
          <a:p>
            <a:pPr algn="l">
              <a:lnSpc>
                <a:spcPts val="2730"/>
              </a:lnSpc>
            </a:pPr>
            <a:r>
              <a:rPr lang="en-US" sz="2237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91.4 Mil Milhões de MZN (~24% do PIB Nacional).</a:t>
            </a: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  <a:r>
              <a:rPr lang="en-US" b="true" sz="2237" strike="noStrike" u="non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Emprego Agrícola: </a:t>
            </a:r>
          </a:p>
          <a:p>
            <a:pPr algn="l">
              <a:lnSpc>
                <a:spcPts val="2730"/>
              </a:lnSpc>
            </a:pPr>
            <a:r>
              <a:rPr lang="en-US" sz="2237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70% da Força Laboral Nacional (Sustento da maioria da população).</a:t>
            </a: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  <a:r>
              <a:rPr lang="en-US" b="true" sz="2237" strike="noStrike" u="non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Directório de Empresas: </a:t>
            </a:r>
          </a:p>
          <a:p>
            <a:pPr algn="l">
              <a:lnSpc>
                <a:spcPts val="2730"/>
              </a:lnSpc>
            </a:pPr>
            <a:r>
              <a:rPr lang="en-US" sz="2237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950+ Empresas ativas mapeadas (~47% da amostra do sector privado comercial).</a:t>
            </a:r>
          </a:p>
          <a:p>
            <a:pPr algn="l">
              <a:lnSpc>
                <a:spcPts val="2730"/>
              </a:lnSpc>
            </a:pPr>
          </a:p>
          <a:p>
            <a:pPr algn="l">
              <a:lnSpc>
                <a:spcPts val="2730"/>
              </a:lnSpc>
            </a:pPr>
            <a:r>
              <a:rPr lang="en-US" b="true" sz="2237" strike="noStrike" u="non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Estrutura Agrária: </a:t>
            </a:r>
          </a:p>
          <a:p>
            <a:pPr algn="l">
              <a:lnSpc>
                <a:spcPts val="2730"/>
              </a:lnSpc>
            </a:pPr>
            <a:r>
              <a:rPr lang="en-US" sz="2237" strike="noStrike" u="none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4 Milhões de explorações familiares de subsistência vs. ~2.000 empresas comerciais.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90440"/>
            <a:ext cx="18288000" cy="3391727"/>
            <a:chOff x="0" y="0"/>
            <a:chExt cx="4816593" cy="8932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93294"/>
            </a:xfrm>
            <a:custGeom>
              <a:avLst/>
              <a:gdLst/>
              <a:ahLst/>
              <a:cxnLst/>
              <a:rect r="r" b="b" t="t" l="l"/>
              <a:pathLst>
                <a:path h="89329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93294"/>
                  </a:lnTo>
                  <a:lnTo>
                    <a:pt x="0" y="893294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50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-5400000">
            <a:off x="1986274" y="6241669"/>
            <a:ext cx="2239854" cy="4599618"/>
          </a:xfrm>
          <a:custGeom>
            <a:avLst/>
            <a:gdLst/>
            <a:ahLst/>
            <a:cxnLst/>
            <a:rect r="r" b="b" t="t" l="l"/>
            <a:pathLst>
              <a:path h="4599618" w="2239854">
                <a:moveTo>
                  <a:pt x="0" y="4599618"/>
                </a:moveTo>
                <a:lnTo>
                  <a:pt x="2239853" y="4599618"/>
                </a:lnTo>
                <a:lnTo>
                  <a:pt x="2239853" y="0"/>
                </a:lnTo>
                <a:lnTo>
                  <a:pt x="0" y="0"/>
                </a:lnTo>
                <a:lnTo>
                  <a:pt x="0" y="4599618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l="-1702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27100" y="-240614"/>
            <a:ext cx="4478910" cy="9293969"/>
            <a:chOff x="0" y="0"/>
            <a:chExt cx="693900" cy="1439879"/>
          </a:xfrm>
        </p:grpSpPr>
        <p:sp>
          <p:nvSpPr>
            <p:cNvPr name="Freeform 7" id="7"/>
            <p:cNvSpPr/>
            <p:nvPr/>
          </p:nvSpPr>
          <p:spPr>
            <a:xfrm flipH="false" flipV="false" rot="143170">
              <a:off x="-29674" y="-13821"/>
              <a:ext cx="753247" cy="1467521"/>
            </a:xfrm>
            <a:custGeom>
              <a:avLst/>
              <a:gdLst/>
              <a:ahLst/>
              <a:cxnLst/>
              <a:rect r="r" b="b" t="t" l="l"/>
              <a:pathLst>
                <a:path h="1467521" w="753247">
                  <a:moveTo>
                    <a:pt x="0" y="28890"/>
                  </a:moveTo>
                  <a:lnTo>
                    <a:pt x="693299" y="0"/>
                  </a:lnTo>
                  <a:lnTo>
                    <a:pt x="753248" y="1438631"/>
                  </a:lnTo>
                  <a:lnTo>
                    <a:pt x="59949" y="1467521"/>
                  </a:lnTo>
                  <a:close/>
                </a:path>
              </a:pathLst>
            </a:custGeom>
            <a:blipFill>
              <a:blip r:embed="rId3"/>
              <a:stretch>
                <a:fillRect l="-173354" t="0" r="-28084" b="-30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736975" y="-2795743"/>
            <a:ext cx="6768900" cy="67689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8EE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644580" y="4708707"/>
            <a:ext cx="5617097" cy="3433450"/>
          </a:xfrm>
          <a:custGeom>
            <a:avLst/>
            <a:gdLst/>
            <a:ahLst/>
            <a:cxnLst/>
            <a:rect r="r" b="b" t="t" l="l"/>
            <a:pathLst>
              <a:path h="3433450" w="5617097">
                <a:moveTo>
                  <a:pt x="0" y="0"/>
                </a:moveTo>
                <a:lnTo>
                  <a:pt x="5617096" y="0"/>
                </a:lnTo>
                <a:lnTo>
                  <a:pt x="5617096" y="3433450"/>
                </a:lnTo>
                <a:lnTo>
                  <a:pt x="0" y="3433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825782" y="2099964"/>
            <a:ext cx="1295643" cy="1561016"/>
          </a:xfrm>
          <a:custGeom>
            <a:avLst/>
            <a:gdLst/>
            <a:ahLst/>
            <a:cxnLst/>
            <a:rect r="r" b="b" t="t" l="l"/>
            <a:pathLst>
              <a:path h="1561016" w="1295643">
                <a:moveTo>
                  <a:pt x="0" y="0"/>
                </a:moveTo>
                <a:lnTo>
                  <a:pt x="1295643" y="0"/>
                </a:lnTo>
                <a:lnTo>
                  <a:pt x="1295643" y="1561016"/>
                </a:lnTo>
                <a:lnTo>
                  <a:pt x="0" y="15610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435764" y="364337"/>
            <a:ext cx="780036" cy="880154"/>
          </a:xfrm>
          <a:custGeom>
            <a:avLst/>
            <a:gdLst/>
            <a:ahLst/>
            <a:cxnLst/>
            <a:rect r="r" b="b" t="t" l="l"/>
            <a:pathLst>
              <a:path h="880154" w="780036">
                <a:moveTo>
                  <a:pt x="0" y="0"/>
                </a:moveTo>
                <a:lnTo>
                  <a:pt x="780036" y="0"/>
                </a:lnTo>
                <a:lnTo>
                  <a:pt x="780036" y="880154"/>
                </a:lnTo>
                <a:lnTo>
                  <a:pt x="0" y="8801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880047" y="535940"/>
            <a:ext cx="11163072" cy="96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40"/>
              </a:lnSpc>
              <a:spcBef>
                <a:spcPct val="0"/>
              </a:spcBef>
            </a:pPr>
            <a:r>
              <a:rPr lang="en-US" b="true" sz="6500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CONTINUAÇÃO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80047" y="1783820"/>
            <a:ext cx="10687542" cy="505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Na nossa plataforma já catalogámos 950+ empresas em 11 províncias. Mas para o melhor funcionamento do mercado é preciso saber quem são os actores do agro-negócio e onde se localizam. 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Apoiadas por ferramentas como o Scanner Inteligente (Doctor Plants / AgroBotanica AI) e cotações SIMA/IPC em tempo real.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0" y="9414578"/>
            <a:ext cx="18288000" cy="959109"/>
            <a:chOff x="0" y="0"/>
            <a:chExt cx="4816593" cy="2526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16592" cy="252605"/>
            </a:xfrm>
            <a:custGeom>
              <a:avLst/>
              <a:gdLst/>
              <a:ahLst/>
              <a:cxnLst/>
              <a:rect r="r" b="b" t="t" l="l"/>
              <a:pathLst>
                <a:path h="25260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52605"/>
                  </a:lnTo>
                  <a:lnTo>
                    <a:pt x="0" y="252605"/>
                  </a:lnTo>
                  <a:close/>
                </a:path>
              </a:pathLst>
            </a:custGeom>
            <a:solidFill>
              <a:srgbClr val="134E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4816593" cy="309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55694" cy="10287000"/>
            <a:chOff x="0" y="0"/>
            <a:chExt cx="51508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080" cy="2709333"/>
            </a:xfrm>
            <a:custGeom>
              <a:avLst/>
              <a:gdLst/>
              <a:ahLst/>
              <a:cxnLst/>
              <a:rect r="r" b="b" t="t" l="l"/>
              <a:pathLst>
                <a:path h="2709333" w="515080">
                  <a:moveTo>
                    <a:pt x="0" y="0"/>
                  </a:moveTo>
                  <a:lnTo>
                    <a:pt x="515080" y="0"/>
                  </a:lnTo>
                  <a:lnTo>
                    <a:pt x="5150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508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69318" y="2766339"/>
            <a:ext cx="3724702" cy="3092053"/>
            <a:chOff x="0" y="0"/>
            <a:chExt cx="543287" cy="451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3287" cy="451008"/>
            </a:xfrm>
            <a:custGeom>
              <a:avLst/>
              <a:gdLst/>
              <a:ahLst/>
              <a:cxnLst/>
              <a:rect r="r" b="b" t="t" l="l"/>
              <a:pathLst>
                <a:path h="451008" w="543287">
                  <a:moveTo>
                    <a:pt x="0" y="0"/>
                  </a:moveTo>
                  <a:lnTo>
                    <a:pt x="543287" y="0"/>
                  </a:lnTo>
                  <a:lnTo>
                    <a:pt x="543287" y="451008"/>
                  </a:lnTo>
                  <a:lnTo>
                    <a:pt x="0" y="451008"/>
                  </a:lnTo>
                  <a:close/>
                </a:path>
              </a:pathLst>
            </a:custGeom>
            <a:blipFill>
              <a:blip r:embed="rId2"/>
              <a:stretch>
                <a:fillRect l="0" t="-10230" r="0" b="-10230"/>
              </a:stretch>
            </a:blipFill>
            <a:ln w="9525" cap="sq">
              <a:solidFill>
                <a:srgbClr val="C8C0A8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331669" y="581083"/>
            <a:ext cx="14927631" cy="180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6"/>
              </a:lnSpc>
              <a:spcBef>
                <a:spcPct val="0"/>
              </a:spcBef>
            </a:pPr>
            <a:r>
              <a:rPr lang="en-US" b="true" sz="6100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ALINHA</a:t>
            </a:r>
            <a:r>
              <a:rPr lang="en-US" b="true" sz="6100" strike="noStrike" u="none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MENTO ESTRATÉGICO COM PEDSA II E PNISA II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31669" y="2256262"/>
            <a:ext cx="1709818" cy="254918"/>
          </a:xfrm>
          <a:custGeom>
            <a:avLst/>
            <a:gdLst/>
            <a:ahLst/>
            <a:cxnLst/>
            <a:rect r="r" b="b" t="t" l="l"/>
            <a:pathLst>
              <a:path h="254918" w="1709818">
                <a:moveTo>
                  <a:pt x="0" y="0"/>
                </a:moveTo>
                <a:lnTo>
                  <a:pt x="1709817" y="0"/>
                </a:lnTo>
                <a:lnTo>
                  <a:pt x="1709817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-12827528" y="6443856"/>
            <a:ext cx="13020133" cy="3929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</a:p>
          <a:p>
            <a:pPr algn="l">
              <a:lnSpc>
                <a:spcPts val="5043"/>
              </a:lnSpc>
            </a:pPr>
            <a:r>
              <a:rPr lang="en-US" sz="3552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Mais do que uma simples ponte digital entre o Estado e o público alvo da cadeia de valor agrária, pretendemos que o MADER assuma a posição de Provedor Institucional da Plataforma Base de Dados Agro, autenticando-a como o repositório digital oficial, certificando-o de elevada confiança no país.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97202" y="5368186"/>
            <a:ext cx="13020133" cy="340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4"/>
              </a:lnSpc>
            </a:pPr>
            <a:r>
              <a:rPr lang="en-US" sz="3552" b="tru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Pilar 1:</a:t>
            </a:r>
            <a:r>
              <a:rPr lang="en-US" sz="3552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 Digitalização Agrária em consonância com as metas governamentais para 2030 e o discurso presidencial na FACIM 2026.</a:t>
            </a:r>
          </a:p>
          <a:p>
            <a:pPr algn="l">
              <a:lnSpc>
                <a:spcPts val="5043"/>
              </a:lnSpc>
            </a:pPr>
          </a:p>
          <a:p>
            <a:pPr algn="l">
              <a:lnSpc>
                <a:spcPts val="5043"/>
              </a:lnSpc>
            </a:pPr>
            <a:r>
              <a:rPr lang="en-US" sz="3552" b="tru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Pilar 2:</a:t>
            </a:r>
            <a:r>
              <a:rPr lang="en-US" sz="3552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 Apoio ao FAR, IP na constituição de listas auditadas de fornecedores elegíveis para subsídios e fomento.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97202" y="2336857"/>
            <a:ext cx="13020133" cy="265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552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A nossa solução não foi desenhada no vácuo. Queremos promover a conexão Estado-Público Alvo: Ligar de forma directa e fluida o Governo (MADER/FAR, IP) aos produtores, fornecedores de insumos, agro-processadores e prestadores de serviços.</a:t>
            </a:r>
            <a:r>
              <a:rPr lang="en-US" sz="3552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0" y="9698479"/>
            <a:ext cx="18288000" cy="675208"/>
            <a:chOff x="0" y="0"/>
            <a:chExt cx="4816593" cy="1778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6592" cy="177832"/>
            </a:xfrm>
            <a:custGeom>
              <a:avLst/>
              <a:gdLst/>
              <a:ahLst/>
              <a:cxnLst/>
              <a:rect r="r" b="b" t="t" l="l"/>
              <a:pathLst>
                <a:path h="17783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832"/>
                  </a:lnTo>
                  <a:lnTo>
                    <a:pt x="0" y="177832"/>
                  </a:lnTo>
                  <a:close/>
                </a:path>
              </a:pathLst>
            </a:custGeom>
            <a:solidFill>
              <a:srgbClr val="134E1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816593" cy="23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4094" y="6008401"/>
            <a:ext cx="3719926" cy="2910432"/>
            <a:chOff x="0" y="0"/>
            <a:chExt cx="542590" cy="4245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2590" cy="424517"/>
            </a:xfrm>
            <a:custGeom>
              <a:avLst/>
              <a:gdLst/>
              <a:ahLst/>
              <a:cxnLst/>
              <a:rect r="r" b="b" t="t" l="l"/>
              <a:pathLst>
                <a:path h="424517" w="542590">
                  <a:moveTo>
                    <a:pt x="0" y="0"/>
                  </a:moveTo>
                  <a:lnTo>
                    <a:pt x="542590" y="0"/>
                  </a:lnTo>
                  <a:lnTo>
                    <a:pt x="542590" y="424517"/>
                  </a:lnTo>
                  <a:lnTo>
                    <a:pt x="0" y="424517"/>
                  </a:lnTo>
                  <a:close/>
                </a:path>
              </a:pathLst>
            </a:custGeom>
            <a:blipFill>
              <a:blip r:embed="rId5"/>
              <a:stretch>
                <a:fillRect l="0" t="-1764" r="0" b="-1764"/>
              </a:stretch>
            </a:blipFill>
            <a:ln w="9525" cap="sq">
              <a:solidFill>
                <a:srgbClr val="C8C0A8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955694" cy="10287000"/>
            <a:chOff x="0" y="0"/>
            <a:chExt cx="51508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5080" cy="2709333"/>
            </a:xfrm>
            <a:custGeom>
              <a:avLst/>
              <a:gdLst/>
              <a:ahLst/>
              <a:cxnLst/>
              <a:rect r="r" b="b" t="t" l="l"/>
              <a:pathLst>
                <a:path h="2709333" w="515080">
                  <a:moveTo>
                    <a:pt x="0" y="0"/>
                  </a:moveTo>
                  <a:lnTo>
                    <a:pt x="515080" y="0"/>
                  </a:lnTo>
                  <a:lnTo>
                    <a:pt x="51508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15080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31669" y="581083"/>
            <a:ext cx="14927631" cy="1802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6"/>
              </a:lnSpc>
              <a:spcBef>
                <a:spcPct val="0"/>
              </a:spcBef>
            </a:pPr>
            <a:r>
              <a:rPr lang="en-US" b="true" sz="6100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PROPOSTA D</a:t>
            </a:r>
            <a:r>
              <a:rPr lang="en-US" b="true" sz="6100" strike="noStrike" u="none">
                <a:solidFill>
                  <a:srgbClr val="134E1A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E PARCERIA ESTRATÉGICA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331669" y="2256262"/>
            <a:ext cx="1709818" cy="254918"/>
          </a:xfrm>
          <a:custGeom>
            <a:avLst/>
            <a:gdLst/>
            <a:ahLst/>
            <a:cxnLst/>
            <a:rect r="r" b="b" t="t" l="l"/>
            <a:pathLst>
              <a:path h="254918" w="1709818">
                <a:moveTo>
                  <a:pt x="0" y="0"/>
                </a:moveTo>
                <a:lnTo>
                  <a:pt x="1709817" y="0"/>
                </a:lnTo>
                <a:lnTo>
                  <a:pt x="1709817" y="254918"/>
                </a:lnTo>
                <a:lnTo>
                  <a:pt x="0" y="2549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05449" y="2699822"/>
            <a:ext cx="10414678" cy="6482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3552" b="tru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O Argumento Chave:</a:t>
            </a:r>
            <a:r>
              <a:rPr lang="en-US" sz="3552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 Mapeamento de 950 das ~2.000 empresas formais do país. Proposta de validação conjunta para atingir 100% do mercado.</a:t>
            </a:r>
          </a:p>
          <a:p>
            <a:pPr algn="l">
              <a:lnSpc>
                <a:spcPts val="5043"/>
              </a:lnSpc>
            </a:pPr>
          </a:p>
          <a:p>
            <a:pPr algn="l">
              <a:lnSpc>
                <a:spcPts val="5043"/>
              </a:lnSpc>
            </a:pPr>
            <a:r>
              <a:rPr lang="en-US" sz="3552" b="tru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Modelo Win-Win:</a:t>
            </a:r>
            <a:r>
              <a:rPr lang="en-US" sz="3552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 Cedência da infraestrutura sem custos para o Estado em troca de validação e selo institucional.</a:t>
            </a:r>
          </a:p>
          <a:p>
            <a:pPr algn="l">
              <a:lnSpc>
                <a:spcPts val="5043"/>
              </a:lnSpc>
            </a:pPr>
          </a:p>
          <a:p>
            <a:pPr algn="l">
              <a:lnSpc>
                <a:spcPts val="5043"/>
              </a:lnSpc>
            </a:pPr>
            <a:r>
              <a:rPr lang="en-US" sz="3552" b="true">
                <a:solidFill>
                  <a:srgbClr val="322A2A"/>
                </a:solidFill>
                <a:latin typeface="29LT Bukra Semi Condensed Bold"/>
                <a:ea typeface="29LT Bukra Semi Condensed Bold"/>
                <a:cs typeface="29LT Bukra Semi Condensed Bold"/>
                <a:sym typeface="29LT Bukra Semi Condensed Bold"/>
              </a:rPr>
              <a:t>Canal de Difusão:</a:t>
            </a:r>
            <a:r>
              <a:rPr lang="en-US" sz="3552">
                <a:solidFill>
                  <a:srgbClr val="322A2A"/>
                </a:solidFill>
                <a:latin typeface="29LT Bukra Semi Condensed"/>
                <a:ea typeface="29LT Bukra Semi Condensed"/>
                <a:cs typeface="29LT Bukra Semi Condensed"/>
                <a:sym typeface="29LT Bukra Semi Condensed"/>
              </a:rPr>
              <a:t> Comunicação massiva por SMS, Email e Web para avisos ministeriais.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698479"/>
            <a:ext cx="18288000" cy="675208"/>
            <a:chOff x="0" y="0"/>
            <a:chExt cx="4816593" cy="177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177832"/>
            </a:xfrm>
            <a:custGeom>
              <a:avLst/>
              <a:gdLst/>
              <a:ahLst/>
              <a:cxnLst/>
              <a:rect r="r" b="b" t="t" l="l"/>
              <a:pathLst>
                <a:path h="17783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832"/>
                  </a:lnTo>
                  <a:lnTo>
                    <a:pt x="0" y="177832"/>
                  </a:lnTo>
                  <a:close/>
                </a:path>
              </a:pathLst>
            </a:custGeom>
            <a:solidFill>
              <a:srgbClr val="134E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816593" cy="234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2790430"/>
            <a:ext cx="5975874" cy="6391923"/>
          </a:xfrm>
          <a:custGeom>
            <a:avLst/>
            <a:gdLst/>
            <a:ahLst/>
            <a:cxnLst/>
            <a:rect r="r" b="b" t="t" l="l"/>
            <a:pathLst>
              <a:path h="6391923" w="5975874">
                <a:moveTo>
                  <a:pt x="0" y="0"/>
                </a:moveTo>
                <a:lnTo>
                  <a:pt x="5975874" y="0"/>
                </a:lnTo>
                <a:lnTo>
                  <a:pt x="5975874" y="6391923"/>
                </a:lnTo>
                <a:lnTo>
                  <a:pt x="0" y="6391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20" t="-8202" r="-572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F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84463"/>
            <a:ext cx="18288000" cy="3402537"/>
            <a:chOff x="0" y="0"/>
            <a:chExt cx="4816593" cy="8961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896141"/>
            </a:xfrm>
            <a:custGeom>
              <a:avLst/>
              <a:gdLst/>
              <a:ahLst/>
              <a:cxnLst/>
              <a:rect r="r" b="b" t="t" l="l"/>
              <a:pathLst>
                <a:path h="89614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96141"/>
                  </a:lnTo>
                  <a:lnTo>
                    <a:pt x="0" y="896141"/>
                  </a:lnTo>
                  <a:close/>
                </a:path>
              </a:pathLst>
            </a:custGeom>
            <a:solidFill>
              <a:srgbClr val="57755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16593" cy="9532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6925737" y="810764"/>
            <a:ext cx="4341276" cy="11273682"/>
          </a:xfrm>
          <a:custGeom>
            <a:avLst/>
            <a:gdLst/>
            <a:ahLst/>
            <a:cxnLst/>
            <a:rect r="r" b="b" t="t" l="l"/>
            <a:pathLst>
              <a:path h="11273682" w="4341276">
                <a:moveTo>
                  <a:pt x="0" y="0"/>
                </a:moveTo>
                <a:lnTo>
                  <a:pt x="4341276" y="0"/>
                </a:lnTo>
                <a:lnTo>
                  <a:pt x="4341276" y="11273682"/>
                </a:lnTo>
                <a:lnTo>
                  <a:pt x="0" y="11273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15382" t="0" r="-13229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265097" y="3699101"/>
            <a:ext cx="9757807" cy="4408627"/>
            <a:chOff x="0" y="0"/>
            <a:chExt cx="1234657" cy="557824"/>
          </a:xfrm>
        </p:grpSpPr>
        <p:sp>
          <p:nvSpPr>
            <p:cNvPr name="Freeform 7" id="7">
              <a:hlinkClick r:id="rId3" tooltip="https://www.basededadosagro.com"/>
            </p:cNvPr>
            <p:cNvSpPr/>
            <p:nvPr/>
          </p:nvSpPr>
          <p:spPr>
            <a:xfrm flipH="false" flipV="false" rot="0">
              <a:off x="0" y="0"/>
              <a:ext cx="1234657" cy="557824"/>
            </a:xfrm>
            <a:custGeom>
              <a:avLst/>
              <a:gdLst/>
              <a:ahLst/>
              <a:cxnLst/>
              <a:rect r="r" b="b" t="t" l="l"/>
              <a:pathLst>
                <a:path h="557824" w="1234657">
                  <a:moveTo>
                    <a:pt x="0" y="0"/>
                  </a:moveTo>
                  <a:lnTo>
                    <a:pt x="1234657" y="0"/>
                  </a:lnTo>
                  <a:lnTo>
                    <a:pt x="1234657" y="557824"/>
                  </a:lnTo>
                  <a:lnTo>
                    <a:pt x="0" y="557824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634719"/>
              </a:stretch>
            </a:blipFill>
            <a:ln w="19050" cap="sq">
              <a:solidFill>
                <a:srgbClr val="0D9044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191251" y="1028700"/>
            <a:ext cx="4536903" cy="626038"/>
            <a:chOff x="0" y="0"/>
            <a:chExt cx="1194904" cy="1648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94904" cy="164882"/>
            </a:xfrm>
            <a:custGeom>
              <a:avLst/>
              <a:gdLst/>
              <a:ahLst/>
              <a:cxnLst/>
              <a:rect r="r" b="b" t="t" l="l"/>
              <a:pathLst>
                <a:path h="164882" w="1194904">
                  <a:moveTo>
                    <a:pt x="82441" y="0"/>
                  </a:moveTo>
                  <a:lnTo>
                    <a:pt x="1112463" y="0"/>
                  </a:lnTo>
                  <a:cubicBezTo>
                    <a:pt x="1134328" y="0"/>
                    <a:pt x="1155297" y="8686"/>
                    <a:pt x="1170758" y="24146"/>
                  </a:cubicBezTo>
                  <a:cubicBezTo>
                    <a:pt x="1186219" y="39607"/>
                    <a:pt x="1194904" y="60576"/>
                    <a:pt x="1194904" y="82441"/>
                  </a:cubicBezTo>
                  <a:lnTo>
                    <a:pt x="1194904" y="82441"/>
                  </a:lnTo>
                  <a:cubicBezTo>
                    <a:pt x="1194904" y="104306"/>
                    <a:pt x="1186219" y="125275"/>
                    <a:pt x="1170758" y="140736"/>
                  </a:cubicBezTo>
                  <a:cubicBezTo>
                    <a:pt x="1155297" y="156197"/>
                    <a:pt x="1134328" y="164882"/>
                    <a:pt x="1112463" y="164882"/>
                  </a:cubicBezTo>
                  <a:lnTo>
                    <a:pt x="82441" y="164882"/>
                  </a:lnTo>
                  <a:cubicBezTo>
                    <a:pt x="60576" y="164882"/>
                    <a:pt x="39607" y="156197"/>
                    <a:pt x="24146" y="140736"/>
                  </a:cubicBezTo>
                  <a:cubicBezTo>
                    <a:pt x="8686" y="125275"/>
                    <a:pt x="0" y="104306"/>
                    <a:pt x="0" y="82441"/>
                  </a:cubicBezTo>
                  <a:lnTo>
                    <a:pt x="0" y="82441"/>
                  </a:lnTo>
                  <a:cubicBezTo>
                    <a:pt x="0" y="60576"/>
                    <a:pt x="8686" y="39607"/>
                    <a:pt x="24146" y="24146"/>
                  </a:cubicBezTo>
                  <a:cubicBezTo>
                    <a:pt x="39607" y="8686"/>
                    <a:pt x="60576" y="0"/>
                    <a:pt x="82441" y="0"/>
                  </a:cubicBezTo>
                  <a:close/>
                </a:path>
              </a:pathLst>
            </a:custGeom>
            <a:solidFill>
              <a:srgbClr val="D9DFC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94904" cy="222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434021" y="1190122"/>
            <a:ext cx="292311" cy="292311"/>
          </a:xfrm>
          <a:custGeom>
            <a:avLst/>
            <a:gdLst/>
            <a:ahLst/>
            <a:cxnLst/>
            <a:rect r="r" b="b" t="t" l="l"/>
            <a:pathLst>
              <a:path h="292311" w="292311">
                <a:moveTo>
                  <a:pt x="0" y="0"/>
                </a:moveTo>
                <a:lnTo>
                  <a:pt x="292312" y="0"/>
                </a:lnTo>
                <a:lnTo>
                  <a:pt x="292312" y="292311"/>
                </a:lnTo>
                <a:lnTo>
                  <a:pt x="0" y="2923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5504123"/>
            <a:ext cx="2729160" cy="406893"/>
          </a:xfrm>
          <a:custGeom>
            <a:avLst/>
            <a:gdLst/>
            <a:ahLst/>
            <a:cxnLst/>
            <a:rect r="r" b="b" t="t" l="l"/>
            <a:pathLst>
              <a:path h="406893" w="2729160">
                <a:moveTo>
                  <a:pt x="0" y="0"/>
                </a:moveTo>
                <a:lnTo>
                  <a:pt x="2729160" y="0"/>
                </a:lnTo>
                <a:lnTo>
                  <a:pt x="2729160" y="406893"/>
                </a:lnTo>
                <a:lnTo>
                  <a:pt x="0" y="406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30140" y="5504123"/>
            <a:ext cx="2729160" cy="406893"/>
          </a:xfrm>
          <a:custGeom>
            <a:avLst/>
            <a:gdLst/>
            <a:ahLst/>
            <a:cxnLst/>
            <a:rect r="r" b="b" t="t" l="l"/>
            <a:pathLst>
              <a:path h="406893" w="2729160">
                <a:moveTo>
                  <a:pt x="0" y="0"/>
                </a:moveTo>
                <a:lnTo>
                  <a:pt x="2729160" y="0"/>
                </a:lnTo>
                <a:lnTo>
                  <a:pt x="2729160" y="406893"/>
                </a:lnTo>
                <a:lnTo>
                  <a:pt x="0" y="406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53993" y="8442857"/>
            <a:ext cx="14841783" cy="144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b="true" sz="260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Director - Geral: </a:t>
            </a:r>
            <a:r>
              <a:rPr lang="en-US" sz="26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Silva Chamo | </a:t>
            </a:r>
            <a:r>
              <a:rPr lang="en-US" b="true" sz="260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Telefone: </a:t>
            </a:r>
            <a:r>
              <a:rPr lang="en-US" sz="26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+258 87 75 75 288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 </a:t>
            </a:r>
            <a:r>
              <a:rPr lang="en-US" b="true" sz="260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E-mail:</a:t>
            </a:r>
            <a:r>
              <a:rPr lang="en-US" sz="26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 geral@basededadosagro.com / silva.chamo@gmail.com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 </a:t>
            </a:r>
            <a:r>
              <a:rPr lang="en-US" b="true" sz="260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Website:</a:t>
            </a:r>
            <a:r>
              <a:rPr lang="en-US" sz="26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 www.basededadosagro.com | </a:t>
            </a:r>
            <a:r>
              <a:rPr lang="en-US" b="true" sz="2600">
                <a:solidFill>
                  <a:srgbClr val="FFFFFF"/>
                </a:solidFill>
                <a:latin typeface="29LT Bukra Bold"/>
                <a:ea typeface="29LT Bukra Bold"/>
                <a:cs typeface="29LT Bukra Bold"/>
                <a:sym typeface="29LT Bukra Bold"/>
              </a:rPr>
              <a:t>Sede: </a:t>
            </a:r>
            <a:r>
              <a:rPr lang="en-US" sz="2600">
                <a:solidFill>
                  <a:srgbClr val="FFFFFF"/>
                </a:solidFill>
                <a:latin typeface="29LT Bukra"/>
                <a:ea typeface="29LT Bukra"/>
                <a:cs typeface="29LT Bukra"/>
                <a:sym typeface="29LT Bukra"/>
              </a:rPr>
              <a:t>Maputo, Moçambique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34007" y="1215343"/>
            <a:ext cx="13419987" cy="288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49"/>
              </a:lnSpc>
            </a:pPr>
            <a:r>
              <a:rPr lang="en-US" b="true" sz="14463">
                <a:solidFill>
                  <a:srgbClr val="134E1A"/>
                </a:solidFill>
                <a:latin typeface="Agrandir Narrow Heavy"/>
                <a:ea typeface="Agrandir Narrow Heavy"/>
                <a:cs typeface="Agrandir Narrow Heavy"/>
                <a:sym typeface="Agrandir Narrow Heavy"/>
              </a:rPr>
              <a:t>KANIMAMBO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95358" y="1163876"/>
            <a:ext cx="3832795" cy="306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u="sng">
                <a:solidFill>
                  <a:srgbClr val="1800AD"/>
                </a:solidFill>
                <a:latin typeface="Aileron Heavy"/>
                <a:ea typeface="Aileron Heavy"/>
                <a:cs typeface="Aileron Heavy"/>
                <a:sym typeface="Aileron Heavy"/>
                <a:hlinkClick r:id="rId9" tooltip="https://basededadosagro.com"/>
              </a:rPr>
              <a:t>https://basededaos agro.com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DAHWDmFRWOI</dc:identifier>
  <dcterms:modified xsi:type="dcterms:W3CDTF">2011-08-01T06:04:30Z</dcterms:modified>
  <cp:revision>1</cp:revision>
  <dc:title>Apresentação - base de dados agro</dc:title>
</cp:coreProperties>
</file>