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grandir Narrow Heavy" charset="1" panose="00000A06000000000000"/>
      <p:regular r:id="rId17"/>
    </p:embeddedFont>
    <p:embeddedFont>
      <p:font typeface="29LT Bukra Semi Wide Ultra-Bold" charset="1" panose="020B0905040000000004"/>
      <p:regular r:id="rId18"/>
    </p:embeddedFont>
    <p:embeddedFont>
      <p:font typeface="Aileron Bold" charset="1" panose="00000800000000000000"/>
      <p:regular r:id="rId19"/>
    </p:embeddedFont>
    <p:embeddedFont>
      <p:font typeface="29LT Bukra" charset="1" panose="020B0504040000000004"/>
      <p:regular r:id="rId20"/>
    </p:embeddedFont>
    <p:embeddedFont>
      <p:font typeface="29LT Bukra Semi Condensed" charset="1" panose="020B0506040000000004"/>
      <p:regular r:id="rId21"/>
    </p:embeddedFont>
    <p:embeddedFont>
      <p:font typeface="Akzidenz-Grotesk Heavy" charset="1" panose="02000503050000020004"/>
      <p:regular r:id="rId22"/>
    </p:embeddedFont>
    <p:embeddedFont>
      <p:font typeface="Aileron Heavy" charset="1" panose="00000A00000000000000"/>
      <p:regular r:id="rId23"/>
    </p:embeddedFont>
    <p:embeddedFont>
      <p:font typeface="29LT Bukra Semi Condensed Ultra-Bold" charset="1" panose="020B0906040000000004"/>
      <p:regular r:id="rId24"/>
    </p:embeddedFont>
    <p:embeddedFont>
      <p:font typeface="29LT Bukra Semi Condensed Bold" charset="1" panose="020B0806040000000004"/>
      <p:regular r:id="rId25"/>
    </p:embeddedFont>
    <p:embeddedFont>
      <p:font typeface="Aileron Ultra-Bold" charset="1" panose="00000A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https://basededadosagro.com" TargetMode="External" Type="http://schemas.openxmlformats.org/officeDocument/2006/relationships/hyperlink"/><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jpe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jpe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jpe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http://basededadosagro.com" TargetMode="External" Type="http://schemas.openxmlformats.org/officeDocument/2006/relationships/hyperlink"/><Relationship Id="rId7" Target="../media/image2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24.jpe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29.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30.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33.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https://basededadosagro.com" TargetMode="External" Type="http://schemas.openxmlformats.org/officeDocument/2006/relationships/hyperlink"/><Relationship Id="rId7" Target="../media/image13.png" Type="http://schemas.openxmlformats.org/officeDocument/2006/relationships/image"/><Relationship Id="rId8" Target="../media/image1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0"/>
            <a:ext cx="7961245" cy="10287000"/>
            <a:chOff x="0" y="0"/>
            <a:chExt cx="1233405" cy="1593725"/>
          </a:xfrm>
        </p:grpSpPr>
        <p:sp>
          <p:nvSpPr>
            <p:cNvPr name="Freeform 3" id="3"/>
            <p:cNvSpPr/>
            <p:nvPr/>
          </p:nvSpPr>
          <p:spPr>
            <a:xfrm flipH="false" flipV="false" rot="0">
              <a:off x="0" y="0"/>
              <a:ext cx="1233405" cy="1593725"/>
            </a:xfrm>
            <a:custGeom>
              <a:avLst/>
              <a:gdLst/>
              <a:ahLst/>
              <a:cxnLst/>
              <a:rect r="r" b="b" t="t" l="l"/>
              <a:pathLst>
                <a:path h="1593725" w="1233405">
                  <a:moveTo>
                    <a:pt x="0" y="0"/>
                  </a:moveTo>
                  <a:lnTo>
                    <a:pt x="1233405" y="0"/>
                  </a:lnTo>
                  <a:lnTo>
                    <a:pt x="1233405" y="1593725"/>
                  </a:lnTo>
                  <a:lnTo>
                    <a:pt x="0" y="1593725"/>
                  </a:lnTo>
                  <a:close/>
                </a:path>
              </a:pathLst>
            </a:custGeom>
            <a:blipFill>
              <a:blip r:embed="rId2"/>
              <a:stretch>
                <a:fillRect l="-36142" t="0" r="-36142" b="0"/>
              </a:stretch>
            </a:blipFill>
          </p:spPr>
        </p:sp>
      </p:grpSp>
      <p:grpSp>
        <p:nvGrpSpPr>
          <p:cNvPr name="Group 4" id="4"/>
          <p:cNvGrpSpPr/>
          <p:nvPr/>
        </p:nvGrpSpPr>
        <p:grpSpPr>
          <a:xfrm rot="0">
            <a:off x="3980622" y="4399511"/>
            <a:ext cx="13278678" cy="2041203"/>
            <a:chOff x="0" y="0"/>
            <a:chExt cx="3497265" cy="537601"/>
          </a:xfrm>
        </p:grpSpPr>
        <p:sp>
          <p:nvSpPr>
            <p:cNvPr name="Freeform 5" id="5"/>
            <p:cNvSpPr/>
            <p:nvPr/>
          </p:nvSpPr>
          <p:spPr>
            <a:xfrm flipH="false" flipV="false" rot="0">
              <a:off x="0" y="0"/>
              <a:ext cx="3497265" cy="537601"/>
            </a:xfrm>
            <a:custGeom>
              <a:avLst/>
              <a:gdLst/>
              <a:ahLst/>
              <a:cxnLst/>
              <a:rect r="r" b="b" t="t" l="l"/>
              <a:pathLst>
                <a:path h="537601" w="3497265">
                  <a:moveTo>
                    <a:pt x="0" y="0"/>
                  </a:moveTo>
                  <a:lnTo>
                    <a:pt x="3497265" y="0"/>
                  </a:lnTo>
                  <a:lnTo>
                    <a:pt x="3497265" y="537601"/>
                  </a:lnTo>
                  <a:lnTo>
                    <a:pt x="0" y="537601"/>
                  </a:lnTo>
                  <a:close/>
                </a:path>
              </a:pathLst>
            </a:custGeom>
            <a:solidFill>
              <a:srgbClr val="D9DFCE"/>
            </a:solidFill>
          </p:spPr>
        </p:sp>
        <p:sp>
          <p:nvSpPr>
            <p:cNvPr name="TextBox 6" id="6"/>
            <p:cNvSpPr txBox="true"/>
            <p:nvPr/>
          </p:nvSpPr>
          <p:spPr>
            <a:xfrm>
              <a:off x="0" y="-57150"/>
              <a:ext cx="3497265" cy="594751"/>
            </a:xfrm>
            <a:prstGeom prst="rect">
              <a:avLst/>
            </a:prstGeom>
          </p:spPr>
          <p:txBody>
            <a:bodyPr anchor="ctr" rtlCol="false" tIns="50800" lIns="50800" bIns="50800" rIns="50800"/>
            <a:lstStyle/>
            <a:p>
              <a:pPr algn="ctr">
                <a:lnSpc>
                  <a:spcPts val="3500"/>
                </a:lnSpc>
              </a:pPr>
            </a:p>
          </p:txBody>
        </p:sp>
      </p:grpSp>
      <p:sp>
        <p:nvSpPr>
          <p:cNvPr name="Freeform 7" id="7"/>
          <p:cNvSpPr/>
          <p:nvPr/>
        </p:nvSpPr>
        <p:spPr>
          <a:xfrm flipH="false" flipV="false" rot="0">
            <a:off x="-236661" y="-620699"/>
            <a:ext cx="10052987" cy="10040421"/>
          </a:xfrm>
          <a:custGeom>
            <a:avLst/>
            <a:gdLst/>
            <a:ahLst/>
            <a:cxnLst/>
            <a:rect r="r" b="b" t="t" l="l"/>
            <a:pathLst>
              <a:path h="10040421" w="10052987">
                <a:moveTo>
                  <a:pt x="0" y="0"/>
                </a:moveTo>
                <a:lnTo>
                  <a:pt x="10052987" y="0"/>
                </a:lnTo>
                <a:lnTo>
                  <a:pt x="10052987" y="10040421"/>
                </a:lnTo>
                <a:lnTo>
                  <a:pt x="0" y="10040421"/>
                </a:lnTo>
                <a:lnTo>
                  <a:pt x="0" y="0"/>
                </a:lnTo>
                <a:close/>
              </a:path>
            </a:pathLst>
          </a:custGeom>
          <a:blipFill>
            <a:blip r:embed="rId3"/>
            <a:stretch>
              <a:fillRect l="0" t="0" r="0" b="0"/>
            </a:stretch>
          </a:blipFill>
        </p:spPr>
      </p:sp>
      <p:grpSp>
        <p:nvGrpSpPr>
          <p:cNvPr name="Group 8" id="8"/>
          <p:cNvGrpSpPr/>
          <p:nvPr/>
        </p:nvGrpSpPr>
        <p:grpSpPr>
          <a:xfrm rot="0">
            <a:off x="9120693" y="6814218"/>
            <a:ext cx="4229269" cy="626038"/>
            <a:chOff x="0" y="0"/>
            <a:chExt cx="1113882" cy="164882"/>
          </a:xfrm>
        </p:grpSpPr>
        <p:sp>
          <p:nvSpPr>
            <p:cNvPr name="Freeform 9" id="9"/>
            <p:cNvSpPr/>
            <p:nvPr/>
          </p:nvSpPr>
          <p:spPr>
            <a:xfrm flipH="false" flipV="false" rot="0">
              <a:off x="0" y="0"/>
              <a:ext cx="1113882" cy="164882"/>
            </a:xfrm>
            <a:custGeom>
              <a:avLst/>
              <a:gdLst/>
              <a:ahLst/>
              <a:cxnLst/>
              <a:rect r="r" b="b" t="t" l="l"/>
              <a:pathLst>
                <a:path h="164882" w="1113882">
                  <a:moveTo>
                    <a:pt x="82441" y="0"/>
                  </a:moveTo>
                  <a:lnTo>
                    <a:pt x="1031441" y="0"/>
                  </a:lnTo>
                  <a:cubicBezTo>
                    <a:pt x="1076972" y="0"/>
                    <a:pt x="1113882" y="36910"/>
                    <a:pt x="1113882" y="82441"/>
                  </a:cubicBezTo>
                  <a:lnTo>
                    <a:pt x="1113882" y="82441"/>
                  </a:lnTo>
                  <a:cubicBezTo>
                    <a:pt x="1113882" y="104306"/>
                    <a:pt x="1105196" y="125275"/>
                    <a:pt x="1089735" y="140736"/>
                  </a:cubicBezTo>
                  <a:cubicBezTo>
                    <a:pt x="1074275" y="156197"/>
                    <a:pt x="1053305" y="164882"/>
                    <a:pt x="1031441" y="164882"/>
                  </a:cubicBezTo>
                  <a:lnTo>
                    <a:pt x="82441" y="164882"/>
                  </a:lnTo>
                  <a:cubicBezTo>
                    <a:pt x="60576" y="164882"/>
                    <a:pt x="39607" y="156197"/>
                    <a:pt x="24146" y="140736"/>
                  </a:cubicBezTo>
                  <a:cubicBezTo>
                    <a:pt x="8686" y="125275"/>
                    <a:pt x="0" y="104306"/>
                    <a:pt x="0" y="82441"/>
                  </a:cubicBezTo>
                  <a:lnTo>
                    <a:pt x="0" y="82441"/>
                  </a:lnTo>
                  <a:cubicBezTo>
                    <a:pt x="0" y="60576"/>
                    <a:pt x="8686" y="39607"/>
                    <a:pt x="24146" y="24146"/>
                  </a:cubicBezTo>
                  <a:cubicBezTo>
                    <a:pt x="39607" y="8686"/>
                    <a:pt x="60576" y="0"/>
                    <a:pt x="82441" y="0"/>
                  </a:cubicBezTo>
                  <a:close/>
                </a:path>
              </a:pathLst>
            </a:custGeom>
            <a:solidFill>
              <a:srgbClr val="D9DFCE"/>
            </a:solidFill>
          </p:spPr>
        </p:sp>
        <p:sp>
          <p:nvSpPr>
            <p:cNvPr name="TextBox 10" id="10"/>
            <p:cNvSpPr txBox="true"/>
            <p:nvPr/>
          </p:nvSpPr>
          <p:spPr>
            <a:xfrm>
              <a:off x="0" y="-57150"/>
              <a:ext cx="1113882" cy="222032"/>
            </a:xfrm>
            <a:prstGeom prst="rect">
              <a:avLst/>
            </a:prstGeom>
          </p:spPr>
          <p:txBody>
            <a:bodyPr anchor="ctr" rtlCol="false" tIns="50800" lIns="50800" bIns="50800" rIns="50800"/>
            <a:lstStyle/>
            <a:p>
              <a:pPr algn="ctr">
                <a:lnSpc>
                  <a:spcPts val="3500"/>
                </a:lnSpc>
              </a:pPr>
            </a:p>
          </p:txBody>
        </p:sp>
      </p:grpSp>
      <p:sp>
        <p:nvSpPr>
          <p:cNvPr name="Freeform 11" id="11"/>
          <p:cNvSpPr/>
          <p:nvPr/>
        </p:nvSpPr>
        <p:spPr>
          <a:xfrm flipH="false" flipV="false" rot="0">
            <a:off x="9363464" y="6975640"/>
            <a:ext cx="292311" cy="292311"/>
          </a:xfrm>
          <a:custGeom>
            <a:avLst/>
            <a:gdLst/>
            <a:ahLst/>
            <a:cxnLst/>
            <a:rect r="r" b="b" t="t" l="l"/>
            <a:pathLst>
              <a:path h="292311" w="292311">
                <a:moveTo>
                  <a:pt x="0" y="0"/>
                </a:moveTo>
                <a:lnTo>
                  <a:pt x="292311" y="0"/>
                </a:lnTo>
                <a:lnTo>
                  <a:pt x="292311" y="292311"/>
                </a:lnTo>
                <a:lnTo>
                  <a:pt x="0" y="292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615742" y="308405"/>
            <a:ext cx="6505813" cy="650581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1909" t="-4526" r="-212811" b="-904"/>
              </a:stretch>
            </a:blipFill>
            <a:ln cap="sq">
              <a:noFill/>
              <a:prstDash val="solid"/>
              <a:miter/>
            </a:ln>
          </p:spPr>
        </p:sp>
      </p:grpSp>
      <p:grpSp>
        <p:nvGrpSpPr>
          <p:cNvPr name="Group 14" id="14"/>
          <p:cNvGrpSpPr/>
          <p:nvPr/>
        </p:nvGrpSpPr>
        <p:grpSpPr>
          <a:xfrm rot="0">
            <a:off x="15775711" y="7440256"/>
            <a:ext cx="1595836" cy="159583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6" id="16"/>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7" id="17"/>
          <p:cNvSpPr/>
          <p:nvPr/>
        </p:nvSpPr>
        <p:spPr>
          <a:xfrm flipH="false" flipV="false" rot="0">
            <a:off x="9258300" y="1028700"/>
            <a:ext cx="1850797" cy="275937"/>
          </a:xfrm>
          <a:custGeom>
            <a:avLst/>
            <a:gdLst/>
            <a:ahLst/>
            <a:cxnLst/>
            <a:rect r="r" b="b" t="t" l="l"/>
            <a:pathLst>
              <a:path h="275937" w="1850797">
                <a:moveTo>
                  <a:pt x="0" y="0"/>
                </a:moveTo>
                <a:lnTo>
                  <a:pt x="1850797" y="0"/>
                </a:lnTo>
                <a:lnTo>
                  <a:pt x="1850797" y="275937"/>
                </a:lnTo>
                <a:lnTo>
                  <a:pt x="0" y="27593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18" id="18"/>
          <p:cNvSpPr/>
          <p:nvPr/>
        </p:nvSpPr>
        <p:spPr>
          <a:xfrm>
            <a:off x="11487176" y="1166668"/>
            <a:ext cx="5218904" cy="0"/>
          </a:xfrm>
          <a:prstGeom prst="line">
            <a:avLst/>
          </a:prstGeom>
          <a:ln cap="flat" w="38100">
            <a:solidFill>
              <a:srgbClr val="577550"/>
            </a:solidFill>
            <a:prstDash val="solid"/>
            <a:headEnd type="none" len="sm" w="sm"/>
            <a:tailEnd type="none" len="sm" w="sm"/>
          </a:ln>
        </p:spPr>
      </p:sp>
      <p:sp>
        <p:nvSpPr>
          <p:cNvPr name="Freeform 19" id="19"/>
          <p:cNvSpPr/>
          <p:nvPr/>
        </p:nvSpPr>
        <p:spPr>
          <a:xfrm flipH="false" flipV="false" rot="0">
            <a:off x="16160335" y="7936518"/>
            <a:ext cx="903396" cy="603311"/>
          </a:xfrm>
          <a:custGeom>
            <a:avLst/>
            <a:gdLst/>
            <a:ahLst/>
            <a:cxnLst/>
            <a:rect r="r" b="b" t="t" l="l"/>
            <a:pathLst>
              <a:path h="603311" w="903396">
                <a:moveTo>
                  <a:pt x="0" y="0"/>
                </a:moveTo>
                <a:lnTo>
                  <a:pt x="903396" y="0"/>
                </a:lnTo>
                <a:lnTo>
                  <a:pt x="903396" y="603311"/>
                </a:lnTo>
                <a:lnTo>
                  <a:pt x="0" y="6033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0" id="20"/>
          <p:cNvSpPr txBox="true"/>
          <p:nvPr/>
        </p:nvSpPr>
        <p:spPr>
          <a:xfrm rot="0">
            <a:off x="9065742" y="1604939"/>
            <a:ext cx="8193558" cy="1512816"/>
          </a:xfrm>
          <a:prstGeom prst="rect">
            <a:avLst/>
          </a:prstGeom>
        </p:spPr>
        <p:txBody>
          <a:bodyPr anchor="t" rtlCol="false" tIns="0" lIns="0" bIns="0" rIns="0">
            <a:spAutoFit/>
          </a:bodyPr>
          <a:lstStyle/>
          <a:p>
            <a:pPr algn="l">
              <a:lnSpc>
                <a:spcPts val="10591"/>
              </a:lnSpc>
            </a:pPr>
            <a:r>
              <a:rPr lang="en-US" sz="7565" b="true">
                <a:solidFill>
                  <a:srgbClr val="134E1A"/>
                </a:solidFill>
                <a:latin typeface="Agrandir Narrow Heavy"/>
                <a:ea typeface="Agrandir Narrow Heavy"/>
                <a:cs typeface="Agrandir Narrow Heavy"/>
                <a:sym typeface="Agrandir Narrow Heavy"/>
              </a:rPr>
              <a:t>APRESENTAÇÃO</a:t>
            </a:r>
          </a:p>
        </p:txBody>
      </p:sp>
      <p:sp>
        <p:nvSpPr>
          <p:cNvPr name="TextBox 21" id="21"/>
          <p:cNvSpPr txBox="true"/>
          <p:nvPr/>
        </p:nvSpPr>
        <p:spPr>
          <a:xfrm rot="0">
            <a:off x="9120693" y="4542666"/>
            <a:ext cx="7226389" cy="742950"/>
          </a:xfrm>
          <a:prstGeom prst="rect">
            <a:avLst/>
          </a:prstGeom>
        </p:spPr>
        <p:txBody>
          <a:bodyPr anchor="t" rtlCol="false" tIns="0" lIns="0" bIns="0" rIns="0">
            <a:spAutoFit/>
          </a:bodyPr>
          <a:lstStyle/>
          <a:p>
            <a:pPr algn="l">
              <a:lnSpc>
                <a:spcPts val="4823"/>
              </a:lnSpc>
            </a:pPr>
            <a:r>
              <a:rPr lang="en-US" sz="4019" b="true">
                <a:solidFill>
                  <a:srgbClr val="322A2A"/>
                </a:solidFill>
                <a:latin typeface="29LT Bukra Semi Wide Ultra-Bold"/>
                <a:ea typeface="29LT Bukra Semi Wide Ultra-Bold"/>
                <a:cs typeface="29LT Bukra Semi Wide Ultra-Bold"/>
                <a:sym typeface="29LT Bukra Semi Wide Ultra-Bold"/>
              </a:rPr>
              <a:t>BASE DE DAODS AGRO</a:t>
            </a:r>
          </a:p>
        </p:txBody>
      </p:sp>
      <p:sp>
        <p:nvSpPr>
          <p:cNvPr name="TextBox 22" id="22"/>
          <p:cNvSpPr txBox="true"/>
          <p:nvPr/>
        </p:nvSpPr>
        <p:spPr>
          <a:xfrm rot="0">
            <a:off x="9824801" y="6949394"/>
            <a:ext cx="3700873" cy="306703"/>
          </a:xfrm>
          <a:prstGeom prst="rect">
            <a:avLst/>
          </a:prstGeom>
        </p:spPr>
        <p:txBody>
          <a:bodyPr anchor="t" rtlCol="false" tIns="0" lIns="0" bIns="0" rIns="0">
            <a:spAutoFit/>
          </a:bodyPr>
          <a:lstStyle/>
          <a:p>
            <a:pPr algn="l">
              <a:lnSpc>
                <a:spcPts val="2520"/>
              </a:lnSpc>
            </a:pPr>
            <a:r>
              <a:rPr lang="en-US" b="true" sz="1800" u="sng">
                <a:solidFill>
                  <a:srgbClr val="1800AD"/>
                </a:solidFill>
                <a:latin typeface="Aileron Bold"/>
                <a:ea typeface="Aileron Bold"/>
                <a:cs typeface="Aileron Bold"/>
                <a:sym typeface="Aileron Bold"/>
                <a:hlinkClick r:id="rId11" tooltip="https://basededadosagro.com"/>
              </a:rPr>
              <a:t>www.entrecamposblog.com</a:t>
            </a:r>
          </a:p>
        </p:txBody>
      </p:sp>
      <p:sp>
        <p:nvSpPr>
          <p:cNvPr name="TextBox 23" id="23"/>
          <p:cNvSpPr txBox="true"/>
          <p:nvPr/>
        </p:nvSpPr>
        <p:spPr>
          <a:xfrm rot="0">
            <a:off x="9144000" y="5218385"/>
            <a:ext cx="7264794" cy="1071879"/>
          </a:xfrm>
          <a:prstGeom prst="rect">
            <a:avLst/>
          </a:prstGeom>
        </p:spPr>
        <p:txBody>
          <a:bodyPr anchor="t" rtlCol="false" tIns="0" lIns="0" bIns="0" rIns="0">
            <a:spAutoFit/>
          </a:bodyPr>
          <a:lstStyle/>
          <a:p>
            <a:pPr algn="l">
              <a:lnSpc>
                <a:spcPts val="3920"/>
              </a:lnSpc>
              <a:spcBef>
                <a:spcPct val="0"/>
              </a:spcBef>
            </a:pPr>
            <a:r>
              <a:rPr lang="en-US" sz="2800">
                <a:solidFill>
                  <a:srgbClr val="000000"/>
                </a:solidFill>
                <a:latin typeface="29LT Bukra"/>
                <a:ea typeface="29LT Bukra"/>
                <a:cs typeface="29LT Bukra"/>
                <a:sym typeface="29LT Bukra"/>
              </a:rPr>
              <a:t>A Infraestrutura Digital do Agronegócio Moçambicano</a:t>
            </a:r>
          </a:p>
        </p:txBody>
      </p:sp>
      <p:sp>
        <p:nvSpPr>
          <p:cNvPr name="TextBox 24" id="24"/>
          <p:cNvSpPr txBox="true"/>
          <p:nvPr/>
        </p:nvSpPr>
        <p:spPr>
          <a:xfrm rot="0">
            <a:off x="9120693" y="2955830"/>
            <a:ext cx="7264794" cy="642619"/>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29LT Bukra"/>
                <a:ea typeface="29LT Bukra"/>
                <a:cs typeface="29LT Bukra"/>
                <a:sym typeface="29LT Bukra"/>
              </a:rPr>
              <a:t>Institucional da plataforma agrária</a:t>
            </a:r>
          </a:p>
        </p:txBody>
      </p:sp>
      <p:grpSp>
        <p:nvGrpSpPr>
          <p:cNvPr name="Group 25" id="25"/>
          <p:cNvGrpSpPr/>
          <p:nvPr/>
        </p:nvGrpSpPr>
        <p:grpSpPr>
          <a:xfrm rot="0">
            <a:off x="0" y="9414578"/>
            <a:ext cx="18288000" cy="959109"/>
            <a:chOff x="0" y="0"/>
            <a:chExt cx="4816593" cy="252605"/>
          </a:xfrm>
        </p:grpSpPr>
        <p:sp>
          <p:nvSpPr>
            <p:cNvPr name="Freeform 26" id="26"/>
            <p:cNvSpPr/>
            <p:nvPr/>
          </p:nvSpPr>
          <p:spPr>
            <a:xfrm flipH="false" flipV="false" rot="0">
              <a:off x="0" y="0"/>
              <a:ext cx="4816592" cy="252605"/>
            </a:xfrm>
            <a:custGeom>
              <a:avLst/>
              <a:gdLst/>
              <a:ahLst/>
              <a:cxnLst/>
              <a:rect r="r" b="b" t="t" l="l"/>
              <a:pathLst>
                <a:path h="252605" w="4816592">
                  <a:moveTo>
                    <a:pt x="0" y="0"/>
                  </a:moveTo>
                  <a:lnTo>
                    <a:pt x="4816592" y="0"/>
                  </a:lnTo>
                  <a:lnTo>
                    <a:pt x="4816592" y="252605"/>
                  </a:lnTo>
                  <a:lnTo>
                    <a:pt x="0" y="252605"/>
                  </a:lnTo>
                  <a:close/>
                </a:path>
              </a:pathLst>
            </a:custGeom>
            <a:solidFill>
              <a:srgbClr val="134E1A"/>
            </a:solidFill>
          </p:spPr>
        </p:sp>
        <p:sp>
          <p:nvSpPr>
            <p:cNvPr name="TextBox 27" id="27"/>
            <p:cNvSpPr txBox="true"/>
            <p:nvPr/>
          </p:nvSpPr>
          <p:spPr>
            <a:xfrm>
              <a:off x="0" y="-57150"/>
              <a:ext cx="4816593" cy="309755"/>
            </a:xfrm>
            <a:prstGeom prst="rect">
              <a:avLst/>
            </a:prstGeom>
          </p:spPr>
          <p:txBody>
            <a:bodyPr anchor="ctr" rtlCol="false" tIns="50800" lIns="50800" bIns="50800" rIns="50800"/>
            <a:lstStyle/>
            <a:p>
              <a:pPr algn="ctr">
                <a:lnSpc>
                  <a:spcPts val="3500"/>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7049208"/>
            <a:ext cx="18288000" cy="3237792"/>
            <a:chOff x="0" y="0"/>
            <a:chExt cx="4816593" cy="852752"/>
          </a:xfrm>
        </p:grpSpPr>
        <p:sp>
          <p:nvSpPr>
            <p:cNvPr name="Freeform 3" id="3"/>
            <p:cNvSpPr/>
            <p:nvPr/>
          </p:nvSpPr>
          <p:spPr>
            <a:xfrm flipH="false" flipV="false" rot="0">
              <a:off x="0" y="0"/>
              <a:ext cx="4816592" cy="852752"/>
            </a:xfrm>
            <a:custGeom>
              <a:avLst/>
              <a:gdLst/>
              <a:ahLst/>
              <a:cxnLst/>
              <a:rect r="r" b="b" t="t" l="l"/>
              <a:pathLst>
                <a:path h="852752" w="4816592">
                  <a:moveTo>
                    <a:pt x="0" y="0"/>
                  </a:moveTo>
                  <a:lnTo>
                    <a:pt x="4816592" y="0"/>
                  </a:lnTo>
                  <a:lnTo>
                    <a:pt x="4816592" y="852752"/>
                  </a:lnTo>
                  <a:lnTo>
                    <a:pt x="0" y="852752"/>
                  </a:lnTo>
                  <a:close/>
                </a:path>
              </a:pathLst>
            </a:custGeom>
            <a:solidFill>
              <a:srgbClr val="D9DFCE"/>
            </a:solidFill>
          </p:spPr>
        </p:sp>
        <p:sp>
          <p:nvSpPr>
            <p:cNvPr name="TextBox 4" id="4"/>
            <p:cNvSpPr txBox="true"/>
            <p:nvPr/>
          </p:nvSpPr>
          <p:spPr>
            <a:xfrm>
              <a:off x="0" y="-57150"/>
              <a:ext cx="4816593" cy="909902"/>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12846333" y="0"/>
            <a:ext cx="3427276" cy="4020223"/>
            <a:chOff x="0" y="0"/>
            <a:chExt cx="902657" cy="1058824"/>
          </a:xfrm>
        </p:grpSpPr>
        <p:sp>
          <p:nvSpPr>
            <p:cNvPr name="Freeform 6" id="6"/>
            <p:cNvSpPr/>
            <p:nvPr/>
          </p:nvSpPr>
          <p:spPr>
            <a:xfrm flipH="false" flipV="false" rot="0">
              <a:off x="0" y="0"/>
              <a:ext cx="902657" cy="1058824"/>
            </a:xfrm>
            <a:custGeom>
              <a:avLst/>
              <a:gdLst/>
              <a:ahLst/>
              <a:cxnLst/>
              <a:rect r="r" b="b" t="t" l="l"/>
              <a:pathLst>
                <a:path h="1058824" w="902657">
                  <a:moveTo>
                    <a:pt x="0" y="0"/>
                  </a:moveTo>
                  <a:lnTo>
                    <a:pt x="902657" y="0"/>
                  </a:lnTo>
                  <a:lnTo>
                    <a:pt x="902657" y="1058824"/>
                  </a:lnTo>
                  <a:lnTo>
                    <a:pt x="0" y="1058824"/>
                  </a:lnTo>
                  <a:close/>
                </a:path>
              </a:pathLst>
            </a:custGeom>
            <a:solidFill>
              <a:srgbClr val="F5F8EE"/>
            </a:solidFill>
            <a:ln cap="sq">
              <a:noFill/>
              <a:prstDash val="solid"/>
              <a:miter/>
            </a:ln>
          </p:spPr>
        </p:sp>
        <p:sp>
          <p:nvSpPr>
            <p:cNvPr name="TextBox 7" id="7"/>
            <p:cNvSpPr txBox="true"/>
            <p:nvPr/>
          </p:nvSpPr>
          <p:spPr>
            <a:xfrm>
              <a:off x="0" y="-57150"/>
              <a:ext cx="902657" cy="1115974"/>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8" id="8"/>
          <p:cNvSpPr/>
          <p:nvPr/>
        </p:nvSpPr>
        <p:spPr>
          <a:xfrm flipH="false" flipV="false" rot="0">
            <a:off x="11992073" y="2286236"/>
            <a:ext cx="4880087" cy="4873987"/>
          </a:xfrm>
          <a:custGeom>
            <a:avLst/>
            <a:gdLst/>
            <a:ahLst/>
            <a:cxnLst/>
            <a:rect r="r" b="b" t="t" l="l"/>
            <a:pathLst>
              <a:path h="4873987" w="4880087">
                <a:moveTo>
                  <a:pt x="0" y="0"/>
                </a:moveTo>
                <a:lnTo>
                  <a:pt x="4880087" y="0"/>
                </a:lnTo>
                <a:lnTo>
                  <a:pt x="4880087" y="4873987"/>
                </a:lnTo>
                <a:lnTo>
                  <a:pt x="0" y="4873987"/>
                </a:lnTo>
                <a:lnTo>
                  <a:pt x="0" y="0"/>
                </a:lnTo>
                <a:close/>
              </a:path>
            </a:pathLst>
          </a:custGeom>
          <a:blipFill>
            <a:blip r:embed="rId2"/>
            <a:stretch>
              <a:fillRect l="0" t="0" r="0" b="0"/>
            </a:stretch>
          </a:blipFill>
        </p:spPr>
      </p:sp>
      <p:grpSp>
        <p:nvGrpSpPr>
          <p:cNvPr name="Group 9" id="9"/>
          <p:cNvGrpSpPr/>
          <p:nvPr/>
        </p:nvGrpSpPr>
        <p:grpSpPr>
          <a:xfrm rot="0">
            <a:off x="13576314" y="8469086"/>
            <a:ext cx="3682986" cy="789214"/>
            <a:chOff x="0" y="0"/>
            <a:chExt cx="970005" cy="207859"/>
          </a:xfrm>
        </p:grpSpPr>
        <p:sp>
          <p:nvSpPr>
            <p:cNvPr name="Freeform 10" id="10"/>
            <p:cNvSpPr/>
            <p:nvPr/>
          </p:nvSpPr>
          <p:spPr>
            <a:xfrm flipH="false" flipV="false" rot="0">
              <a:off x="0" y="0"/>
              <a:ext cx="970005" cy="207859"/>
            </a:xfrm>
            <a:custGeom>
              <a:avLst/>
              <a:gdLst/>
              <a:ahLst/>
              <a:cxnLst/>
              <a:rect r="r" b="b" t="t" l="l"/>
              <a:pathLst>
                <a:path h="207859" w="970005">
                  <a:moveTo>
                    <a:pt x="103929" y="0"/>
                  </a:moveTo>
                  <a:lnTo>
                    <a:pt x="866075" y="0"/>
                  </a:lnTo>
                  <a:cubicBezTo>
                    <a:pt x="923474" y="0"/>
                    <a:pt x="970005" y="46531"/>
                    <a:pt x="970005" y="103929"/>
                  </a:cubicBezTo>
                  <a:lnTo>
                    <a:pt x="970005" y="103929"/>
                  </a:lnTo>
                  <a:cubicBezTo>
                    <a:pt x="970005" y="161328"/>
                    <a:pt x="923474" y="207859"/>
                    <a:pt x="866075" y="207859"/>
                  </a:cubicBezTo>
                  <a:lnTo>
                    <a:pt x="103929" y="207859"/>
                  </a:lnTo>
                  <a:cubicBezTo>
                    <a:pt x="46531" y="207859"/>
                    <a:pt x="0" y="161328"/>
                    <a:pt x="0" y="103929"/>
                  </a:cubicBezTo>
                  <a:lnTo>
                    <a:pt x="0" y="103929"/>
                  </a:lnTo>
                  <a:cubicBezTo>
                    <a:pt x="0" y="46531"/>
                    <a:pt x="46531" y="0"/>
                    <a:pt x="103929" y="0"/>
                  </a:cubicBezTo>
                  <a:close/>
                </a:path>
              </a:pathLst>
            </a:custGeom>
            <a:solidFill>
              <a:srgbClr val="577550"/>
            </a:solidFill>
          </p:spPr>
        </p:sp>
        <p:sp>
          <p:nvSpPr>
            <p:cNvPr name="TextBox 11" id="11"/>
            <p:cNvSpPr txBox="true"/>
            <p:nvPr/>
          </p:nvSpPr>
          <p:spPr>
            <a:xfrm>
              <a:off x="0" y="-57150"/>
              <a:ext cx="970005" cy="265009"/>
            </a:xfrm>
            <a:prstGeom prst="rect">
              <a:avLst/>
            </a:prstGeom>
          </p:spPr>
          <p:txBody>
            <a:bodyPr anchor="ctr" rtlCol="false" tIns="50800" lIns="50800" bIns="50800" rIns="50800"/>
            <a:lstStyle/>
            <a:p>
              <a:pPr algn="ctr">
                <a:lnSpc>
                  <a:spcPts val="3500"/>
                </a:lnSpc>
              </a:pPr>
            </a:p>
          </p:txBody>
        </p:sp>
      </p:grpSp>
      <p:sp>
        <p:nvSpPr>
          <p:cNvPr name="Freeform 12" id="12"/>
          <p:cNvSpPr/>
          <p:nvPr/>
        </p:nvSpPr>
        <p:spPr>
          <a:xfrm flipH="false" flipV="false" rot="0">
            <a:off x="16270411" y="8620378"/>
            <a:ext cx="801716" cy="459165"/>
          </a:xfrm>
          <a:custGeom>
            <a:avLst/>
            <a:gdLst/>
            <a:ahLst/>
            <a:cxnLst/>
            <a:rect r="r" b="b" t="t" l="l"/>
            <a:pathLst>
              <a:path h="459165" w="801716">
                <a:moveTo>
                  <a:pt x="0" y="0"/>
                </a:moveTo>
                <a:lnTo>
                  <a:pt x="801717" y="0"/>
                </a:lnTo>
                <a:lnTo>
                  <a:pt x="801717" y="459165"/>
                </a:lnTo>
                <a:lnTo>
                  <a:pt x="0" y="4591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2846333" y="2527880"/>
            <a:ext cx="3427276" cy="342727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0" r="-49953" b="0"/>
              </a:stretch>
            </a:blipFill>
          </p:spPr>
        </p:sp>
      </p:grpSp>
      <p:sp>
        <p:nvSpPr>
          <p:cNvPr name="Freeform 15" id="15"/>
          <p:cNvSpPr/>
          <p:nvPr/>
        </p:nvSpPr>
        <p:spPr>
          <a:xfrm flipH="false" flipV="false" rot="0">
            <a:off x="15701882" y="6382992"/>
            <a:ext cx="1709818" cy="254918"/>
          </a:xfrm>
          <a:custGeom>
            <a:avLst/>
            <a:gdLst/>
            <a:ahLst/>
            <a:cxnLst/>
            <a:rect r="r" b="b" t="t" l="l"/>
            <a:pathLst>
              <a:path h="254918" w="1709818">
                <a:moveTo>
                  <a:pt x="0" y="0"/>
                </a:moveTo>
                <a:lnTo>
                  <a:pt x="1709818" y="0"/>
                </a:lnTo>
                <a:lnTo>
                  <a:pt x="1709818" y="254918"/>
                </a:lnTo>
                <a:lnTo>
                  <a:pt x="0" y="2549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028700" y="7996438"/>
            <a:ext cx="4068307" cy="1379012"/>
          </a:xfrm>
          <a:custGeom>
            <a:avLst/>
            <a:gdLst/>
            <a:ahLst/>
            <a:cxnLst/>
            <a:rect r="r" b="b" t="t" l="l"/>
            <a:pathLst>
              <a:path h="1379012" w="4068307">
                <a:moveTo>
                  <a:pt x="0" y="0"/>
                </a:moveTo>
                <a:lnTo>
                  <a:pt x="4068307" y="0"/>
                </a:lnTo>
                <a:lnTo>
                  <a:pt x="4068307" y="1379012"/>
                </a:lnTo>
                <a:lnTo>
                  <a:pt x="0" y="1379012"/>
                </a:lnTo>
                <a:lnTo>
                  <a:pt x="0" y="0"/>
                </a:lnTo>
                <a:close/>
              </a:path>
            </a:pathLst>
          </a:custGeom>
          <a:blipFill>
            <a:blip r:embed="rId8"/>
            <a:stretch>
              <a:fillRect l="0" t="0" r="0" b="0"/>
            </a:stretch>
          </a:blipFill>
        </p:spPr>
      </p:sp>
      <p:sp>
        <p:nvSpPr>
          <p:cNvPr name="TextBox 17" id="17"/>
          <p:cNvSpPr txBox="true"/>
          <p:nvPr/>
        </p:nvSpPr>
        <p:spPr>
          <a:xfrm rot="0">
            <a:off x="1028700" y="2365152"/>
            <a:ext cx="11111489" cy="4483122"/>
          </a:xfrm>
          <a:prstGeom prst="rect">
            <a:avLst/>
          </a:prstGeom>
        </p:spPr>
        <p:txBody>
          <a:bodyPr anchor="t" rtlCol="false" tIns="0" lIns="0" bIns="0" rIns="0">
            <a:spAutoFit/>
          </a:bodyPr>
          <a:lstStyle/>
          <a:p>
            <a:pPr algn="just">
              <a:lnSpc>
                <a:spcPts val="4999"/>
              </a:lnSpc>
            </a:pPr>
            <a:r>
              <a:rPr lang="en-US" sz="3332">
                <a:solidFill>
                  <a:srgbClr val="322A2A"/>
                </a:solidFill>
                <a:latin typeface="29LT Bukra Semi Condensed"/>
                <a:ea typeface="29LT Bukra Semi Condensed"/>
                <a:cs typeface="29LT Bukra Semi Condensed"/>
                <a:sym typeface="29LT Bukra Semi Condensed"/>
              </a:rPr>
              <a:t>A Base de dados agro nasce com a missão de responder a um desafio histórico: dotar Moçambique de um ecossistema digital agrário unificado, transparente e acessível a todos os agentes económicos, em estrito alinhamento com as directrizes do PEDSA II, PNISA II e o apelo do Presidente da República na abertura da 61.ª FACIM 2026.”</a:t>
            </a:r>
          </a:p>
          <a:p>
            <a:pPr algn="just">
              <a:lnSpc>
                <a:spcPts val="4999"/>
              </a:lnSpc>
            </a:pPr>
          </a:p>
        </p:txBody>
      </p:sp>
      <p:sp>
        <p:nvSpPr>
          <p:cNvPr name="TextBox 18" id="18"/>
          <p:cNvSpPr txBox="true"/>
          <p:nvPr/>
        </p:nvSpPr>
        <p:spPr>
          <a:xfrm rot="0">
            <a:off x="1028700" y="914400"/>
            <a:ext cx="6887334" cy="1178560"/>
          </a:xfrm>
          <a:prstGeom prst="rect">
            <a:avLst/>
          </a:prstGeom>
        </p:spPr>
        <p:txBody>
          <a:bodyPr anchor="t" rtlCol="false" tIns="0" lIns="0" bIns="0" rIns="0">
            <a:spAutoFit/>
          </a:bodyPr>
          <a:lstStyle/>
          <a:p>
            <a:pPr algn="l" marL="0" indent="0" lvl="0">
              <a:lnSpc>
                <a:spcPts val="8120"/>
              </a:lnSpc>
              <a:spcBef>
                <a:spcPct val="0"/>
              </a:spcBef>
            </a:pPr>
            <a:r>
              <a:rPr lang="en-US" b="true" sz="7000">
                <a:solidFill>
                  <a:srgbClr val="134E1A"/>
                </a:solidFill>
                <a:latin typeface="Akzidenz-Grotesk Heavy"/>
                <a:ea typeface="Akzidenz-Grotesk Heavy"/>
                <a:cs typeface="Akzidenz-Grotesk Heavy"/>
                <a:sym typeface="Akzidenz-Grotesk Heavy"/>
              </a:rPr>
              <a:t>INTRODUÇÃO</a:t>
            </a:r>
          </a:p>
        </p:txBody>
      </p:sp>
      <p:sp>
        <p:nvSpPr>
          <p:cNvPr name="TextBox 19" id="19"/>
          <p:cNvSpPr txBox="true"/>
          <p:nvPr/>
        </p:nvSpPr>
        <p:spPr>
          <a:xfrm rot="0">
            <a:off x="14057153" y="8628794"/>
            <a:ext cx="1902833" cy="431699"/>
          </a:xfrm>
          <a:prstGeom prst="rect">
            <a:avLst/>
          </a:prstGeom>
        </p:spPr>
        <p:txBody>
          <a:bodyPr anchor="t" rtlCol="false" tIns="0" lIns="0" bIns="0" rIns="0">
            <a:spAutoFit/>
          </a:bodyPr>
          <a:lstStyle/>
          <a:p>
            <a:pPr algn="just">
              <a:lnSpc>
                <a:spcPts val="3500"/>
              </a:lnSpc>
            </a:pPr>
            <a:r>
              <a:rPr lang="en-US" b="true" sz="2500">
                <a:solidFill>
                  <a:srgbClr val="FEFFFA"/>
                </a:solidFill>
                <a:latin typeface="Aileron Heavy"/>
                <a:ea typeface="Aileron Heavy"/>
                <a:cs typeface="Aileron Heavy"/>
                <a:sym typeface="Aileron Heavy"/>
              </a:rPr>
              <a:t>NEXT PAGE</a:t>
            </a:r>
          </a:p>
        </p:txBody>
      </p:sp>
      <p:grpSp>
        <p:nvGrpSpPr>
          <p:cNvPr name="Group 20" id="20"/>
          <p:cNvGrpSpPr/>
          <p:nvPr/>
        </p:nvGrpSpPr>
        <p:grpSpPr>
          <a:xfrm rot="0">
            <a:off x="0" y="9414578"/>
            <a:ext cx="18288000" cy="959109"/>
            <a:chOff x="0" y="0"/>
            <a:chExt cx="4816593" cy="252605"/>
          </a:xfrm>
        </p:grpSpPr>
        <p:sp>
          <p:nvSpPr>
            <p:cNvPr name="Freeform 21" id="21"/>
            <p:cNvSpPr/>
            <p:nvPr/>
          </p:nvSpPr>
          <p:spPr>
            <a:xfrm flipH="false" flipV="false" rot="0">
              <a:off x="0" y="0"/>
              <a:ext cx="4816592" cy="252605"/>
            </a:xfrm>
            <a:custGeom>
              <a:avLst/>
              <a:gdLst/>
              <a:ahLst/>
              <a:cxnLst/>
              <a:rect r="r" b="b" t="t" l="l"/>
              <a:pathLst>
                <a:path h="252605" w="4816592">
                  <a:moveTo>
                    <a:pt x="0" y="0"/>
                  </a:moveTo>
                  <a:lnTo>
                    <a:pt x="4816592" y="0"/>
                  </a:lnTo>
                  <a:lnTo>
                    <a:pt x="4816592" y="252605"/>
                  </a:lnTo>
                  <a:lnTo>
                    <a:pt x="0" y="252605"/>
                  </a:lnTo>
                  <a:close/>
                </a:path>
              </a:pathLst>
            </a:custGeom>
            <a:solidFill>
              <a:srgbClr val="134E1A"/>
            </a:solidFill>
          </p:spPr>
        </p:sp>
        <p:sp>
          <p:nvSpPr>
            <p:cNvPr name="TextBox 22" id="22"/>
            <p:cNvSpPr txBox="true"/>
            <p:nvPr/>
          </p:nvSpPr>
          <p:spPr>
            <a:xfrm>
              <a:off x="0" y="-57150"/>
              <a:ext cx="4816593" cy="309755"/>
            </a:xfrm>
            <a:prstGeom prst="rect">
              <a:avLst/>
            </a:prstGeom>
          </p:spPr>
          <p:txBody>
            <a:bodyPr anchor="ctr" rtlCol="false" tIns="50800" lIns="50800" bIns="50800" rIns="50800"/>
            <a:lstStyle/>
            <a:p>
              <a:pPr algn="ctr">
                <a:lnSpc>
                  <a:spcPts val="3500"/>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038752" y="6705276"/>
            <a:ext cx="6630790" cy="3581724"/>
            <a:chOff x="0" y="0"/>
            <a:chExt cx="1746381" cy="943335"/>
          </a:xfrm>
        </p:grpSpPr>
        <p:sp>
          <p:nvSpPr>
            <p:cNvPr name="Freeform 3" id="3"/>
            <p:cNvSpPr/>
            <p:nvPr/>
          </p:nvSpPr>
          <p:spPr>
            <a:xfrm flipH="false" flipV="false" rot="0">
              <a:off x="0" y="0"/>
              <a:ext cx="1746381" cy="943335"/>
            </a:xfrm>
            <a:custGeom>
              <a:avLst/>
              <a:gdLst/>
              <a:ahLst/>
              <a:cxnLst/>
              <a:rect r="r" b="b" t="t" l="l"/>
              <a:pathLst>
                <a:path h="943335" w="1746381">
                  <a:moveTo>
                    <a:pt x="0" y="0"/>
                  </a:moveTo>
                  <a:lnTo>
                    <a:pt x="1746381" y="0"/>
                  </a:lnTo>
                  <a:lnTo>
                    <a:pt x="1746381" y="943335"/>
                  </a:lnTo>
                  <a:lnTo>
                    <a:pt x="0" y="943335"/>
                  </a:lnTo>
                  <a:close/>
                </a:path>
              </a:pathLst>
            </a:custGeom>
            <a:solidFill>
              <a:srgbClr val="F5F8EE"/>
            </a:solidFill>
            <a:ln cap="sq">
              <a:noFill/>
              <a:prstDash val="solid"/>
              <a:miter/>
            </a:ln>
          </p:spPr>
        </p:sp>
        <p:sp>
          <p:nvSpPr>
            <p:cNvPr name="TextBox 4" id="4"/>
            <p:cNvSpPr txBox="true"/>
            <p:nvPr/>
          </p:nvSpPr>
          <p:spPr>
            <a:xfrm>
              <a:off x="0" y="-57150"/>
              <a:ext cx="1746381" cy="1000485"/>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5" id="5"/>
          <p:cNvSpPr/>
          <p:nvPr/>
        </p:nvSpPr>
        <p:spPr>
          <a:xfrm flipH="false" flipV="false" rot="-5400000">
            <a:off x="2593130" y="3880972"/>
            <a:ext cx="3522035" cy="7232621"/>
          </a:xfrm>
          <a:custGeom>
            <a:avLst/>
            <a:gdLst/>
            <a:ahLst/>
            <a:cxnLst/>
            <a:rect r="r" b="b" t="t" l="l"/>
            <a:pathLst>
              <a:path h="7232621" w="3522035">
                <a:moveTo>
                  <a:pt x="0" y="0"/>
                </a:moveTo>
                <a:lnTo>
                  <a:pt x="3522034" y="0"/>
                </a:lnTo>
                <a:lnTo>
                  <a:pt x="3522034" y="7232621"/>
                </a:lnTo>
                <a:lnTo>
                  <a:pt x="0" y="7232621"/>
                </a:lnTo>
                <a:lnTo>
                  <a:pt x="0" y="0"/>
                </a:lnTo>
                <a:close/>
              </a:path>
            </a:pathLst>
          </a:custGeom>
          <a:blipFill>
            <a:blip r:embed="rId2">
              <a:alphaModFix amt="64000"/>
            </a:blip>
            <a:stretch>
              <a:fillRect l="-1702" t="0" r="0" b="0"/>
            </a:stretch>
          </a:blipFill>
        </p:spPr>
      </p:sp>
      <p:grpSp>
        <p:nvGrpSpPr>
          <p:cNvPr name="Group 6" id="6"/>
          <p:cNvGrpSpPr/>
          <p:nvPr/>
        </p:nvGrpSpPr>
        <p:grpSpPr>
          <a:xfrm rot="0">
            <a:off x="0" y="0"/>
            <a:ext cx="18288000" cy="3926821"/>
            <a:chOff x="0" y="0"/>
            <a:chExt cx="4816593" cy="1034225"/>
          </a:xfrm>
        </p:grpSpPr>
        <p:sp>
          <p:nvSpPr>
            <p:cNvPr name="Freeform 7" id="7"/>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8" id="8"/>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grpSp>
        <p:nvGrpSpPr>
          <p:cNvPr name="Group 9" id="9"/>
          <p:cNvGrpSpPr/>
          <p:nvPr/>
        </p:nvGrpSpPr>
        <p:grpSpPr>
          <a:xfrm rot="0">
            <a:off x="1038752" y="1028700"/>
            <a:ext cx="6630790" cy="8559300"/>
            <a:chOff x="0" y="0"/>
            <a:chExt cx="1027283" cy="1326060"/>
          </a:xfrm>
        </p:grpSpPr>
        <p:sp>
          <p:nvSpPr>
            <p:cNvPr name="Freeform 10" id="10"/>
            <p:cNvSpPr/>
            <p:nvPr/>
          </p:nvSpPr>
          <p:spPr>
            <a:xfrm flipH="false" flipV="false" rot="0">
              <a:off x="0" y="0"/>
              <a:ext cx="1027283" cy="1326060"/>
            </a:xfrm>
            <a:custGeom>
              <a:avLst/>
              <a:gdLst/>
              <a:ahLst/>
              <a:cxnLst/>
              <a:rect r="r" b="b" t="t" l="l"/>
              <a:pathLst>
                <a:path h="1326060" w="1027283">
                  <a:moveTo>
                    <a:pt x="0" y="0"/>
                  </a:moveTo>
                  <a:lnTo>
                    <a:pt x="1027283" y="0"/>
                  </a:lnTo>
                  <a:lnTo>
                    <a:pt x="1027283" y="1326060"/>
                  </a:lnTo>
                  <a:lnTo>
                    <a:pt x="0" y="1326060"/>
                  </a:lnTo>
                  <a:close/>
                </a:path>
              </a:pathLst>
            </a:custGeom>
            <a:blipFill>
              <a:blip r:embed="rId3"/>
              <a:stretch>
                <a:fillRect l="-98256" t="0" r="-60761" b="-7352"/>
              </a:stretch>
            </a:blipFill>
          </p:spPr>
        </p:sp>
      </p:grpSp>
      <p:sp>
        <p:nvSpPr>
          <p:cNvPr name="TextBox 11" id="11"/>
          <p:cNvSpPr txBox="true"/>
          <p:nvPr/>
        </p:nvSpPr>
        <p:spPr>
          <a:xfrm rot="0">
            <a:off x="8428508" y="923925"/>
            <a:ext cx="9059750" cy="2042795"/>
          </a:xfrm>
          <a:prstGeom prst="rect">
            <a:avLst/>
          </a:prstGeom>
        </p:spPr>
        <p:txBody>
          <a:bodyPr anchor="t" rtlCol="false" tIns="0" lIns="0" bIns="0" rIns="0">
            <a:spAutoFit/>
          </a:bodyPr>
          <a:lstStyle/>
          <a:p>
            <a:pPr algn="l" marL="0" indent="0" lvl="0">
              <a:lnSpc>
                <a:spcPts val="7540"/>
              </a:lnSpc>
              <a:spcBef>
                <a:spcPct val="0"/>
              </a:spcBef>
            </a:pPr>
            <a:r>
              <a:rPr lang="en-US" b="true" sz="6500">
                <a:solidFill>
                  <a:srgbClr val="134E1A"/>
                </a:solidFill>
                <a:latin typeface="Akzidenz-Grotesk Heavy"/>
                <a:ea typeface="Akzidenz-Grotesk Heavy"/>
                <a:cs typeface="Akzidenz-Grotesk Heavy"/>
                <a:sym typeface="Akzidenz-Grotesk Heavy"/>
              </a:rPr>
              <a:t>O DES</a:t>
            </a:r>
            <a:r>
              <a:rPr lang="en-US" b="true" sz="6500" strike="noStrike" u="none">
                <a:solidFill>
                  <a:srgbClr val="134E1A"/>
                </a:solidFill>
                <a:latin typeface="Akzidenz-Grotesk Heavy"/>
                <a:ea typeface="Akzidenz-Grotesk Heavy"/>
                <a:cs typeface="Akzidenz-Grotesk Heavy"/>
                <a:sym typeface="Akzidenz-Grotesk Heavy"/>
              </a:rPr>
              <a:t>AFIO DO SECTOR AGRÁRIO</a:t>
            </a:r>
          </a:p>
        </p:txBody>
      </p:sp>
      <p:sp>
        <p:nvSpPr>
          <p:cNvPr name="TextBox 12" id="12"/>
          <p:cNvSpPr txBox="true"/>
          <p:nvPr/>
        </p:nvSpPr>
        <p:spPr>
          <a:xfrm rot="0">
            <a:off x="7970457" y="4208418"/>
            <a:ext cx="9416370" cy="5045075"/>
          </a:xfrm>
          <a:prstGeom prst="rect">
            <a:avLst/>
          </a:prstGeom>
        </p:spPr>
        <p:txBody>
          <a:bodyPr anchor="t" rtlCol="false" tIns="0" lIns="0" bIns="0" rIns="0">
            <a:spAutoFit/>
          </a:bodyPr>
          <a:lstStyle/>
          <a:p>
            <a:pPr algn="l" marL="755647" indent="-377824" lvl="1">
              <a:lnSpc>
                <a:spcPts val="4899"/>
              </a:lnSpc>
              <a:buFont typeface="Arial"/>
              <a:buChar char="•"/>
            </a:pPr>
            <a:r>
              <a:rPr lang="en-US" b="true" sz="3499">
                <a:solidFill>
                  <a:srgbClr val="322A2A"/>
                </a:solidFill>
                <a:latin typeface="29LT Bukra Semi Condensed Ultra-Bold"/>
                <a:ea typeface="29LT Bukra Semi Condensed Ultra-Bold"/>
                <a:cs typeface="29LT Bukra Semi Condensed Ultra-Bold"/>
                <a:sym typeface="29LT Bukra Semi Condensed Ultra-Bold"/>
              </a:rPr>
              <a:t>Probl</a:t>
            </a:r>
            <a:r>
              <a:rPr lang="en-US" b="true" sz="3499" strike="noStrike" u="none">
                <a:solidFill>
                  <a:srgbClr val="322A2A"/>
                </a:solidFill>
                <a:latin typeface="29LT Bukra Semi Condensed Ultra-Bold"/>
                <a:ea typeface="29LT Bukra Semi Condensed Ultra-Bold"/>
                <a:cs typeface="29LT Bukra Semi Condensed Ultra-Bold"/>
                <a:sym typeface="29LT Bukra Semi Condensed Ultra-Bold"/>
              </a:rPr>
              <a:t>ema 1 (</a:t>
            </a:r>
            <a:r>
              <a:rPr lang="en-US" sz="3499" strike="noStrike" u="none">
                <a:solidFill>
                  <a:srgbClr val="0D9044"/>
                </a:solidFill>
                <a:latin typeface="29LT Bukra Semi Condensed"/>
                <a:ea typeface="29LT Bukra Semi Condensed"/>
                <a:cs typeface="29LT Bukra Semi Condensed"/>
                <a:sym typeface="29LT Bukra Semi Condensed"/>
              </a:rPr>
              <a:t>Fragmentação</a:t>
            </a:r>
            <a:r>
              <a:rPr lang="en-US" b="true" sz="3499" strike="noStrike" u="none">
                <a:solidFill>
                  <a:srgbClr val="322A2A"/>
                </a:solidFill>
                <a:latin typeface="29LT Bukra Semi Condensed Ultra-Bold"/>
                <a:ea typeface="29LT Bukra Semi Condensed Ultra-Bold"/>
                <a:cs typeface="29LT Bukra Semi Condensed Ultra-Bold"/>
                <a:sym typeface="29LT Bukra Semi Condensed Ultra-Bold"/>
              </a:rPr>
              <a:t>): </a:t>
            </a:r>
            <a:r>
              <a:rPr lang="en-US" sz="3499" strike="noStrike" u="none">
                <a:solidFill>
                  <a:srgbClr val="322A2A"/>
                </a:solidFill>
                <a:latin typeface="29LT Bukra Semi Condensed"/>
                <a:ea typeface="29LT Bukra Semi Condensed"/>
                <a:cs typeface="29LT Bukra Semi Condensed"/>
                <a:sym typeface="29LT Bukra Semi Condensed"/>
              </a:rPr>
              <a:t>Inexistência de um registo unificado e georeferenciado dos operadores económicos do campo.</a:t>
            </a:r>
          </a:p>
          <a:p>
            <a:pPr algn="l" marL="0" indent="0" lvl="0">
              <a:lnSpc>
                <a:spcPts val="4899"/>
              </a:lnSpc>
              <a:spcBef>
                <a:spcPct val="0"/>
              </a:spcBef>
            </a:pPr>
          </a:p>
          <a:p>
            <a:pPr algn="l" marL="755647" indent="-377824" lvl="1">
              <a:lnSpc>
                <a:spcPts val="4899"/>
              </a:lnSpc>
              <a:buFont typeface="Arial"/>
              <a:buChar char="•"/>
            </a:pPr>
            <a:r>
              <a:rPr lang="en-US" b="true" sz="3499" strike="noStrike" u="none">
                <a:solidFill>
                  <a:srgbClr val="322A2A"/>
                </a:solidFill>
                <a:latin typeface="29LT Bukra Semi Condensed Ultra-Bold"/>
                <a:ea typeface="29LT Bukra Semi Condensed Ultra-Bold"/>
                <a:cs typeface="29LT Bukra Semi Condensed Ultra-Bold"/>
                <a:sym typeface="29LT Bukra Semi Condensed Ultra-Bold"/>
              </a:rPr>
              <a:t>P</a:t>
            </a:r>
            <a:r>
              <a:rPr lang="en-US" b="true" sz="3499" strike="noStrike" u="none">
                <a:solidFill>
                  <a:srgbClr val="322A2A"/>
                </a:solidFill>
                <a:latin typeface="29LT Bukra Semi Condensed Ultra-Bold"/>
                <a:ea typeface="29LT Bukra Semi Condensed Ultra-Bold"/>
                <a:cs typeface="29LT Bukra Semi Condensed Ultra-Bold"/>
                <a:sym typeface="29LT Bukra Semi Condensed Ultra-Bold"/>
              </a:rPr>
              <a:t>roblema 2 (</a:t>
            </a:r>
            <a:r>
              <a:rPr lang="en-US" sz="3499" strike="noStrike" u="none">
                <a:solidFill>
                  <a:srgbClr val="0D9044"/>
                </a:solidFill>
                <a:latin typeface="29LT Bukra Semi Condensed"/>
                <a:ea typeface="29LT Bukra Semi Condensed"/>
                <a:cs typeface="29LT Bukra Semi Condensed"/>
                <a:sym typeface="29LT Bukra Semi Condensed"/>
              </a:rPr>
              <a:t>Acesso à Informação</a:t>
            </a:r>
            <a:r>
              <a:rPr lang="en-US" b="true" sz="3499" strike="noStrike" u="none">
                <a:solidFill>
                  <a:srgbClr val="322A2A"/>
                </a:solidFill>
                <a:latin typeface="29LT Bukra Semi Condensed Ultra-Bold"/>
                <a:ea typeface="29LT Bukra Semi Condensed Ultra-Bold"/>
                <a:cs typeface="29LT Bukra Semi Condensed Ultra-Bold"/>
                <a:sym typeface="29LT Bukra Semi Condensed Ultra-Bold"/>
              </a:rPr>
              <a:t>): </a:t>
            </a:r>
            <a:r>
              <a:rPr lang="en-US" sz="3499" strike="noStrike" u="none">
                <a:solidFill>
                  <a:srgbClr val="322A2A"/>
                </a:solidFill>
                <a:latin typeface="29LT Bukra Semi Condensed"/>
                <a:ea typeface="29LT Bukra Semi Condensed"/>
                <a:cs typeface="29LT Bukra Semi Condensed"/>
                <a:sym typeface="29LT Bukra Semi Condensed"/>
              </a:rPr>
              <a:t>Dificuldade na ligação rápida entre produtores e fornecedores certificados de sementes e fertilizantes.</a:t>
            </a:r>
          </a:p>
        </p:txBody>
      </p:sp>
      <p:sp>
        <p:nvSpPr>
          <p:cNvPr name="Freeform 13" id="13"/>
          <p:cNvSpPr/>
          <p:nvPr/>
        </p:nvSpPr>
        <p:spPr>
          <a:xfrm flipH="false" flipV="false" rot="0">
            <a:off x="14480305" y="1904186"/>
            <a:ext cx="4575617" cy="3832080"/>
          </a:xfrm>
          <a:custGeom>
            <a:avLst/>
            <a:gdLst/>
            <a:ahLst/>
            <a:cxnLst/>
            <a:rect r="r" b="b" t="t" l="l"/>
            <a:pathLst>
              <a:path h="3832080" w="4575617">
                <a:moveTo>
                  <a:pt x="0" y="0"/>
                </a:moveTo>
                <a:lnTo>
                  <a:pt x="4575618" y="0"/>
                </a:lnTo>
                <a:lnTo>
                  <a:pt x="4575618" y="3832079"/>
                </a:lnTo>
                <a:lnTo>
                  <a:pt x="0" y="3832079"/>
                </a:lnTo>
                <a:lnTo>
                  <a:pt x="0" y="0"/>
                </a:lnTo>
                <a:close/>
              </a:path>
            </a:pathLst>
          </a:custGeom>
          <a:blipFill>
            <a:blip r:embed="rId4"/>
            <a:stretch>
              <a:fillRect l="0" t="0" r="0" b="0"/>
            </a:stretch>
          </a:blipFill>
        </p:spPr>
      </p:sp>
      <p:sp>
        <p:nvSpPr>
          <p:cNvPr name="Freeform 14" id="14"/>
          <p:cNvSpPr/>
          <p:nvPr/>
        </p:nvSpPr>
        <p:spPr>
          <a:xfrm flipH="false" flipV="false" rot="0">
            <a:off x="8428508" y="3297319"/>
            <a:ext cx="2158989" cy="321886"/>
          </a:xfrm>
          <a:custGeom>
            <a:avLst/>
            <a:gdLst/>
            <a:ahLst/>
            <a:cxnLst/>
            <a:rect r="r" b="b" t="t" l="l"/>
            <a:pathLst>
              <a:path h="321886" w="2158989">
                <a:moveTo>
                  <a:pt x="0" y="0"/>
                </a:moveTo>
                <a:lnTo>
                  <a:pt x="2158989" y="0"/>
                </a:lnTo>
                <a:lnTo>
                  <a:pt x="2158989" y="321886"/>
                </a:lnTo>
                <a:lnTo>
                  <a:pt x="0" y="3218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038752" y="3352638"/>
            <a:ext cx="6630790" cy="3581724"/>
            <a:chOff x="0" y="0"/>
            <a:chExt cx="1746381" cy="943335"/>
          </a:xfrm>
        </p:grpSpPr>
        <p:sp>
          <p:nvSpPr>
            <p:cNvPr name="Freeform 3" id="3"/>
            <p:cNvSpPr/>
            <p:nvPr/>
          </p:nvSpPr>
          <p:spPr>
            <a:xfrm flipH="false" flipV="false" rot="0">
              <a:off x="0" y="0"/>
              <a:ext cx="1746381" cy="943335"/>
            </a:xfrm>
            <a:custGeom>
              <a:avLst/>
              <a:gdLst/>
              <a:ahLst/>
              <a:cxnLst/>
              <a:rect r="r" b="b" t="t" l="l"/>
              <a:pathLst>
                <a:path h="943335" w="1746381">
                  <a:moveTo>
                    <a:pt x="0" y="0"/>
                  </a:moveTo>
                  <a:lnTo>
                    <a:pt x="1746381" y="0"/>
                  </a:lnTo>
                  <a:lnTo>
                    <a:pt x="1746381" y="943335"/>
                  </a:lnTo>
                  <a:lnTo>
                    <a:pt x="0" y="943335"/>
                  </a:lnTo>
                  <a:close/>
                </a:path>
              </a:pathLst>
            </a:custGeom>
            <a:solidFill>
              <a:srgbClr val="F5F8EE"/>
            </a:solidFill>
            <a:ln cap="sq">
              <a:noFill/>
              <a:prstDash val="solid"/>
              <a:miter/>
            </a:ln>
          </p:spPr>
        </p:sp>
        <p:sp>
          <p:nvSpPr>
            <p:cNvPr name="TextBox 4" id="4"/>
            <p:cNvSpPr txBox="true"/>
            <p:nvPr/>
          </p:nvSpPr>
          <p:spPr>
            <a:xfrm>
              <a:off x="0" y="-57150"/>
              <a:ext cx="1746381" cy="1000485"/>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5" id="5"/>
          <p:cNvSpPr/>
          <p:nvPr/>
        </p:nvSpPr>
        <p:spPr>
          <a:xfrm flipH="false" flipV="false" rot="-5400000">
            <a:off x="2593130" y="1964932"/>
            <a:ext cx="3522035" cy="7232621"/>
          </a:xfrm>
          <a:custGeom>
            <a:avLst/>
            <a:gdLst/>
            <a:ahLst/>
            <a:cxnLst/>
            <a:rect r="r" b="b" t="t" l="l"/>
            <a:pathLst>
              <a:path h="7232621" w="3522035">
                <a:moveTo>
                  <a:pt x="0" y="0"/>
                </a:moveTo>
                <a:lnTo>
                  <a:pt x="3522034" y="0"/>
                </a:lnTo>
                <a:lnTo>
                  <a:pt x="3522034" y="7232621"/>
                </a:lnTo>
                <a:lnTo>
                  <a:pt x="0" y="7232621"/>
                </a:lnTo>
                <a:lnTo>
                  <a:pt x="0" y="0"/>
                </a:lnTo>
                <a:close/>
              </a:path>
            </a:pathLst>
          </a:custGeom>
          <a:blipFill>
            <a:blip r:embed="rId2">
              <a:alphaModFix amt="64000"/>
            </a:blip>
            <a:stretch>
              <a:fillRect l="-1702" t="0" r="0" b="0"/>
            </a:stretch>
          </a:blipFill>
        </p:spPr>
      </p:sp>
      <p:grpSp>
        <p:nvGrpSpPr>
          <p:cNvPr name="Group 6" id="6"/>
          <p:cNvGrpSpPr/>
          <p:nvPr/>
        </p:nvGrpSpPr>
        <p:grpSpPr>
          <a:xfrm rot="0">
            <a:off x="0" y="0"/>
            <a:ext cx="18288000" cy="3926821"/>
            <a:chOff x="0" y="0"/>
            <a:chExt cx="4816593" cy="1034225"/>
          </a:xfrm>
        </p:grpSpPr>
        <p:sp>
          <p:nvSpPr>
            <p:cNvPr name="Freeform 7" id="7"/>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8" id="8"/>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grpSp>
        <p:nvGrpSpPr>
          <p:cNvPr name="Group 9" id="9"/>
          <p:cNvGrpSpPr/>
          <p:nvPr/>
        </p:nvGrpSpPr>
        <p:grpSpPr>
          <a:xfrm rot="0">
            <a:off x="1038752" y="863121"/>
            <a:ext cx="6630790" cy="6071241"/>
            <a:chOff x="0" y="0"/>
            <a:chExt cx="1027283" cy="940594"/>
          </a:xfrm>
        </p:grpSpPr>
        <p:sp>
          <p:nvSpPr>
            <p:cNvPr name="Freeform 10" id="10"/>
            <p:cNvSpPr/>
            <p:nvPr/>
          </p:nvSpPr>
          <p:spPr>
            <a:xfrm flipH="false" flipV="false" rot="0">
              <a:off x="0" y="0"/>
              <a:ext cx="1027283" cy="940594"/>
            </a:xfrm>
            <a:custGeom>
              <a:avLst/>
              <a:gdLst/>
              <a:ahLst/>
              <a:cxnLst/>
              <a:rect r="r" b="b" t="t" l="l"/>
              <a:pathLst>
                <a:path h="940594" w="1027283">
                  <a:moveTo>
                    <a:pt x="0" y="0"/>
                  </a:moveTo>
                  <a:lnTo>
                    <a:pt x="1027283" y="0"/>
                  </a:lnTo>
                  <a:lnTo>
                    <a:pt x="1027283" y="940594"/>
                  </a:lnTo>
                  <a:lnTo>
                    <a:pt x="0" y="940594"/>
                  </a:lnTo>
                  <a:close/>
                </a:path>
              </a:pathLst>
            </a:custGeom>
            <a:blipFill>
              <a:blip r:embed="rId3"/>
              <a:stretch>
                <a:fillRect l="-55160" t="0" r="-28564" b="-7352"/>
              </a:stretch>
            </a:blipFill>
          </p:spPr>
        </p:sp>
      </p:grpSp>
      <p:sp>
        <p:nvSpPr>
          <p:cNvPr name="TextBox 11" id="11"/>
          <p:cNvSpPr txBox="true"/>
          <p:nvPr/>
        </p:nvSpPr>
        <p:spPr>
          <a:xfrm rot="0">
            <a:off x="8199483" y="923925"/>
            <a:ext cx="9059750" cy="1090295"/>
          </a:xfrm>
          <a:prstGeom prst="rect">
            <a:avLst/>
          </a:prstGeom>
        </p:spPr>
        <p:txBody>
          <a:bodyPr anchor="t" rtlCol="false" tIns="0" lIns="0" bIns="0" rIns="0">
            <a:spAutoFit/>
          </a:bodyPr>
          <a:lstStyle/>
          <a:p>
            <a:pPr algn="l" marL="0" indent="0" lvl="0">
              <a:lnSpc>
                <a:spcPts val="7540"/>
              </a:lnSpc>
              <a:spcBef>
                <a:spcPct val="0"/>
              </a:spcBef>
            </a:pPr>
            <a:r>
              <a:rPr lang="en-US" b="true" sz="6500">
                <a:solidFill>
                  <a:srgbClr val="134E1A"/>
                </a:solidFill>
                <a:latin typeface="Akzidenz-Grotesk Heavy"/>
                <a:ea typeface="Akzidenz-Grotesk Heavy"/>
                <a:cs typeface="Akzidenz-Grotesk Heavy"/>
                <a:sym typeface="Akzidenz-Grotesk Heavy"/>
              </a:rPr>
              <a:t>CONTINUAÇÃO</a:t>
            </a:r>
          </a:p>
        </p:txBody>
      </p:sp>
      <p:sp>
        <p:nvSpPr>
          <p:cNvPr name="TextBox 12" id="12"/>
          <p:cNvSpPr txBox="true"/>
          <p:nvPr/>
        </p:nvSpPr>
        <p:spPr>
          <a:xfrm rot="0">
            <a:off x="7970457" y="4208418"/>
            <a:ext cx="9517801" cy="1977068"/>
          </a:xfrm>
          <a:prstGeom prst="rect">
            <a:avLst/>
          </a:prstGeom>
        </p:spPr>
        <p:txBody>
          <a:bodyPr anchor="t" rtlCol="false" tIns="0" lIns="0" bIns="0" rIns="0">
            <a:spAutoFit/>
          </a:bodyPr>
          <a:lstStyle/>
          <a:p>
            <a:pPr algn="l">
              <a:lnSpc>
                <a:spcPts val="4952"/>
              </a:lnSpc>
            </a:pPr>
            <a:r>
              <a:rPr lang="en-US" b="true" sz="3537">
                <a:solidFill>
                  <a:srgbClr val="322A2A"/>
                </a:solidFill>
                <a:latin typeface="29LT Bukra Semi Condensed Ultra-Bold"/>
                <a:ea typeface="29LT Bukra Semi Condensed Ultra-Bold"/>
                <a:cs typeface="29LT Bukra Semi Condensed Ultra-Bold"/>
                <a:sym typeface="29LT Bukra Semi Condensed Ultra-Bold"/>
              </a:rPr>
              <a:t>Problemas 3. (</a:t>
            </a:r>
            <a:r>
              <a:rPr lang="en-US" sz="3537" strike="noStrike" u="none">
                <a:solidFill>
                  <a:srgbClr val="0D9044"/>
                </a:solidFill>
                <a:latin typeface="29LT Bukra Semi Condensed"/>
                <a:ea typeface="29LT Bukra Semi Condensed"/>
                <a:cs typeface="29LT Bukra Semi Condensed"/>
                <a:sym typeface="29LT Bukra Semi Condensed"/>
              </a:rPr>
              <a:t>Custos do Estado</a:t>
            </a:r>
            <a:r>
              <a:rPr lang="en-US" b="true" sz="3537" strike="noStrike" u="none">
                <a:solidFill>
                  <a:srgbClr val="322A2A"/>
                </a:solidFill>
                <a:latin typeface="29LT Bukra Semi Condensed Ultra-Bold"/>
                <a:ea typeface="29LT Bukra Semi Condensed Ultra-Bold"/>
                <a:cs typeface="29LT Bukra Semi Condensed Ultra-Bold"/>
                <a:sym typeface="29LT Bukra Semi Condensed Ultra-Bold"/>
              </a:rPr>
              <a:t>):  </a:t>
            </a:r>
            <a:r>
              <a:rPr lang="en-US" sz="3537" strike="noStrike" u="none">
                <a:solidFill>
                  <a:srgbClr val="322A2A"/>
                </a:solidFill>
                <a:latin typeface="29LT Bukra Semi Condensed"/>
                <a:ea typeface="29LT Bukra Semi Condensed"/>
                <a:cs typeface="29LT Bukra Semi Condensed"/>
                <a:sym typeface="29LT Bukra Semi Condensed"/>
              </a:rPr>
              <a:t>Elevados encargos do FAR, IP e MADER para mapear beneficiários e fornecedores em cada ciclo agrário.</a:t>
            </a:r>
          </a:p>
        </p:txBody>
      </p:sp>
      <p:sp>
        <p:nvSpPr>
          <p:cNvPr name="TextBox 13" id="13"/>
          <p:cNvSpPr txBox="true"/>
          <p:nvPr/>
        </p:nvSpPr>
        <p:spPr>
          <a:xfrm rot="0">
            <a:off x="1028700" y="7161285"/>
            <a:ext cx="16459559" cy="1977068"/>
          </a:xfrm>
          <a:prstGeom prst="rect">
            <a:avLst/>
          </a:prstGeom>
        </p:spPr>
        <p:txBody>
          <a:bodyPr anchor="t" rtlCol="false" tIns="0" lIns="0" bIns="0" rIns="0">
            <a:spAutoFit/>
          </a:bodyPr>
          <a:lstStyle/>
          <a:p>
            <a:pPr algn="l">
              <a:lnSpc>
                <a:spcPts val="4952"/>
              </a:lnSpc>
            </a:pPr>
            <a:r>
              <a:rPr lang="en-US" b="true" sz="3537">
                <a:solidFill>
                  <a:srgbClr val="322A2A"/>
                </a:solidFill>
                <a:latin typeface="29LT Bukra Semi Condensed Ultra-Bold"/>
                <a:ea typeface="29LT Bukra Semi Condensed Ultra-Bold"/>
                <a:cs typeface="29LT Bukra Semi Condensed Ultra-Bold"/>
                <a:sym typeface="29LT Bukra Semi Condensed Ultra-Bold"/>
              </a:rPr>
              <a:t>4. informação disp</a:t>
            </a:r>
            <a:r>
              <a:rPr lang="en-US" b="true" sz="3537" strike="noStrike" u="none">
                <a:solidFill>
                  <a:srgbClr val="322A2A"/>
                </a:solidFill>
                <a:latin typeface="29LT Bukra Semi Condensed Ultra-Bold"/>
                <a:ea typeface="29LT Bukra Semi Condensed Ultra-Bold"/>
                <a:cs typeface="29LT Bukra Semi Condensed Ultra-Bold"/>
                <a:sym typeface="29LT Bukra Semi Condensed Ultra-Bold"/>
              </a:rPr>
              <a:t>ersa:  </a:t>
            </a:r>
            <a:r>
              <a:rPr lang="en-US" sz="3537" strike="noStrike" u="none">
                <a:solidFill>
                  <a:srgbClr val="322A2A"/>
                </a:solidFill>
                <a:latin typeface="29LT Bukra Semi Condensed"/>
                <a:ea typeface="29LT Bukra Semi Condensed"/>
                <a:cs typeface="29LT Bukra Semi Condensed"/>
                <a:sym typeface="29LT Bukra Semi Condensed"/>
              </a:rPr>
              <a:t>A ausência de um directório unificado gera ineficiências e atrasos no fomento. O extensionista ou produtor em Manica ou Nampula muitas vezes não sabe onde encontrar um fornecedor certificado de insumos.</a:t>
            </a:r>
          </a:p>
        </p:txBody>
      </p:sp>
      <p:sp>
        <p:nvSpPr>
          <p:cNvPr name="Freeform 14" id="14"/>
          <p:cNvSpPr/>
          <p:nvPr/>
        </p:nvSpPr>
        <p:spPr>
          <a:xfrm flipH="false" flipV="false" rot="0">
            <a:off x="14480305" y="1904186"/>
            <a:ext cx="4575617" cy="3832080"/>
          </a:xfrm>
          <a:custGeom>
            <a:avLst/>
            <a:gdLst/>
            <a:ahLst/>
            <a:cxnLst/>
            <a:rect r="r" b="b" t="t" l="l"/>
            <a:pathLst>
              <a:path h="3832080" w="4575617">
                <a:moveTo>
                  <a:pt x="0" y="0"/>
                </a:moveTo>
                <a:lnTo>
                  <a:pt x="4575618" y="0"/>
                </a:lnTo>
                <a:lnTo>
                  <a:pt x="4575618" y="3832079"/>
                </a:lnTo>
                <a:lnTo>
                  <a:pt x="0" y="3832079"/>
                </a:lnTo>
                <a:lnTo>
                  <a:pt x="0" y="0"/>
                </a:lnTo>
                <a:close/>
              </a:path>
            </a:pathLst>
          </a:custGeom>
          <a:blipFill>
            <a:blip r:embed="rId4"/>
            <a:stretch>
              <a:fillRect l="0" t="0" r="0" b="0"/>
            </a:stretch>
          </a:blipFill>
        </p:spPr>
      </p:sp>
      <p:sp>
        <p:nvSpPr>
          <p:cNvPr name="Freeform 15" id="15"/>
          <p:cNvSpPr/>
          <p:nvPr/>
        </p:nvSpPr>
        <p:spPr>
          <a:xfrm flipH="false" flipV="false" rot="0">
            <a:off x="8329879" y="2291409"/>
            <a:ext cx="2158989" cy="321886"/>
          </a:xfrm>
          <a:custGeom>
            <a:avLst/>
            <a:gdLst/>
            <a:ahLst/>
            <a:cxnLst/>
            <a:rect r="r" b="b" t="t" l="l"/>
            <a:pathLst>
              <a:path h="321886" w="2158989">
                <a:moveTo>
                  <a:pt x="0" y="0"/>
                </a:moveTo>
                <a:lnTo>
                  <a:pt x="2158989" y="0"/>
                </a:lnTo>
                <a:lnTo>
                  <a:pt x="2158989" y="321886"/>
                </a:lnTo>
                <a:lnTo>
                  <a:pt x="0" y="3218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6" id="16"/>
          <p:cNvGrpSpPr/>
          <p:nvPr/>
        </p:nvGrpSpPr>
        <p:grpSpPr>
          <a:xfrm rot="0">
            <a:off x="0" y="9414578"/>
            <a:ext cx="18288000" cy="959109"/>
            <a:chOff x="0" y="0"/>
            <a:chExt cx="4816593" cy="252605"/>
          </a:xfrm>
        </p:grpSpPr>
        <p:sp>
          <p:nvSpPr>
            <p:cNvPr name="Freeform 17" id="17"/>
            <p:cNvSpPr/>
            <p:nvPr/>
          </p:nvSpPr>
          <p:spPr>
            <a:xfrm flipH="false" flipV="false" rot="0">
              <a:off x="0" y="0"/>
              <a:ext cx="4816592" cy="252605"/>
            </a:xfrm>
            <a:custGeom>
              <a:avLst/>
              <a:gdLst/>
              <a:ahLst/>
              <a:cxnLst/>
              <a:rect r="r" b="b" t="t" l="l"/>
              <a:pathLst>
                <a:path h="252605" w="4816592">
                  <a:moveTo>
                    <a:pt x="0" y="0"/>
                  </a:moveTo>
                  <a:lnTo>
                    <a:pt x="4816592" y="0"/>
                  </a:lnTo>
                  <a:lnTo>
                    <a:pt x="4816592" y="252605"/>
                  </a:lnTo>
                  <a:lnTo>
                    <a:pt x="0" y="252605"/>
                  </a:lnTo>
                  <a:close/>
                </a:path>
              </a:pathLst>
            </a:custGeom>
            <a:solidFill>
              <a:srgbClr val="134E1A"/>
            </a:solidFill>
          </p:spPr>
        </p:sp>
        <p:sp>
          <p:nvSpPr>
            <p:cNvPr name="TextBox 18" id="18"/>
            <p:cNvSpPr txBox="true"/>
            <p:nvPr/>
          </p:nvSpPr>
          <p:spPr>
            <a:xfrm>
              <a:off x="0" y="-57150"/>
              <a:ext cx="4816593" cy="309755"/>
            </a:xfrm>
            <a:prstGeom prst="rect">
              <a:avLst/>
            </a:prstGeom>
          </p:spPr>
          <p:txBody>
            <a:bodyPr anchor="ctr" rtlCol="false" tIns="50800" lIns="50800" bIns="50800" rIns="50800"/>
            <a:lstStyle/>
            <a:p>
              <a:pPr algn="ctr">
                <a:lnSpc>
                  <a:spcPts val="3500"/>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8091089" y="-2379740"/>
            <a:ext cx="6610957" cy="4195011"/>
            <a:chOff x="0" y="0"/>
            <a:chExt cx="8814609" cy="5593347"/>
          </a:xfrm>
        </p:grpSpPr>
        <p:grpSp>
          <p:nvGrpSpPr>
            <p:cNvPr name="Group 3" id="3"/>
            <p:cNvGrpSpPr/>
            <p:nvPr/>
          </p:nvGrpSpPr>
          <p:grpSpPr>
            <a:xfrm rot="0">
              <a:off x="336257" y="2075030"/>
              <a:ext cx="8478352" cy="1100210"/>
              <a:chOff x="0" y="0"/>
              <a:chExt cx="1674736" cy="217325"/>
            </a:xfrm>
          </p:grpSpPr>
          <p:sp>
            <p:nvSpPr>
              <p:cNvPr name="Freeform 4" id="4"/>
              <p:cNvSpPr/>
              <p:nvPr/>
            </p:nvSpPr>
            <p:spPr>
              <a:xfrm flipH="false" flipV="false" rot="0">
                <a:off x="0" y="0"/>
                <a:ext cx="1674736" cy="217325"/>
              </a:xfrm>
              <a:custGeom>
                <a:avLst/>
                <a:gdLst/>
                <a:ahLst/>
                <a:cxnLst/>
                <a:rect r="r" b="b" t="t" l="l"/>
                <a:pathLst>
                  <a:path h="217325" w="1674736">
                    <a:moveTo>
                      <a:pt x="0" y="0"/>
                    </a:moveTo>
                    <a:lnTo>
                      <a:pt x="1674736" y="0"/>
                    </a:lnTo>
                    <a:lnTo>
                      <a:pt x="1674736" y="217325"/>
                    </a:lnTo>
                    <a:lnTo>
                      <a:pt x="0" y="217325"/>
                    </a:lnTo>
                    <a:close/>
                  </a:path>
                </a:pathLst>
              </a:custGeom>
              <a:solidFill>
                <a:srgbClr val="F5F8EE"/>
              </a:solidFill>
              <a:ln cap="sq">
                <a:noFill/>
                <a:prstDash val="solid"/>
                <a:miter/>
              </a:ln>
            </p:spPr>
          </p:sp>
          <p:sp>
            <p:nvSpPr>
              <p:cNvPr name="TextBox 5" id="5"/>
              <p:cNvSpPr txBox="true"/>
              <p:nvPr/>
            </p:nvSpPr>
            <p:spPr>
              <a:xfrm>
                <a:off x="0" y="-57150"/>
                <a:ext cx="1674736" cy="274475"/>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6" id="6"/>
            <p:cNvGrpSpPr/>
            <p:nvPr/>
          </p:nvGrpSpPr>
          <p:grpSpPr>
            <a:xfrm rot="0">
              <a:off x="0" y="2064462"/>
              <a:ext cx="1086996" cy="1122129"/>
              <a:chOff x="0" y="0"/>
              <a:chExt cx="214715" cy="221655"/>
            </a:xfrm>
          </p:grpSpPr>
          <p:sp>
            <p:nvSpPr>
              <p:cNvPr name="Freeform 7" id="7"/>
              <p:cNvSpPr/>
              <p:nvPr/>
            </p:nvSpPr>
            <p:spPr>
              <a:xfrm flipH="false" flipV="false" rot="0">
                <a:off x="0" y="0"/>
                <a:ext cx="214715" cy="221655"/>
              </a:xfrm>
              <a:custGeom>
                <a:avLst/>
                <a:gdLst/>
                <a:ahLst/>
                <a:cxnLst/>
                <a:rect r="r" b="b" t="t" l="l"/>
                <a:pathLst>
                  <a:path h="221655" w="214715">
                    <a:moveTo>
                      <a:pt x="0" y="0"/>
                    </a:moveTo>
                    <a:lnTo>
                      <a:pt x="214715" y="0"/>
                    </a:lnTo>
                    <a:lnTo>
                      <a:pt x="214715" y="221655"/>
                    </a:lnTo>
                    <a:lnTo>
                      <a:pt x="0" y="221655"/>
                    </a:lnTo>
                    <a:close/>
                  </a:path>
                </a:pathLst>
              </a:custGeom>
              <a:solidFill>
                <a:srgbClr val="577550"/>
              </a:solidFill>
            </p:spPr>
          </p:sp>
          <p:sp>
            <p:nvSpPr>
              <p:cNvPr name="TextBox 8" id="8"/>
              <p:cNvSpPr txBox="true"/>
              <p:nvPr/>
            </p:nvSpPr>
            <p:spPr>
              <a:xfrm>
                <a:off x="0" y="-57150"/>
                <a:ext cx="214715" cy="278805"/>
              </a:xfrm>
              <a:prstGeom prst="rect">
                <a:avLst/>
              </a:prstGeom>
            </p:spPr>
            <p:txBody>
              <a:bodyPr anchor="ctr" rtlCol="false" tIns="50800" lIns="50800" bIns="50800" rIns="50800"/>
              <a:lstStyle/>
              <a:p>
                <a:pPr algn="ctr">
                  <a:lnSpc>
                    <a:spcPts val="3500"/>
                  </a:lnSpc>
                </a:pPr>
              </a:p>
            </p:txBody>
          </p:sp>
        </p:grpSp>
        <p:sp>
          <p:nvSpPr>
            <p:cNvPr name="Freeform 9" id="9"/>
            <p:cNvSpPr/>
            <p:nvPr/>
          </p:nvSpPr>
          <p:spPr>
            <a:xfrm flipH="false" flipV="false" rot="0">
              <a:off x="348480" y="2333968"/>
              <a:ext cx="390037" cy="583118"/>
            </a:xfrm>
            <a:custGeom>
              <a:avLst/>
              <a:gdLst/>
              <a:ahLst/>
              <a:cxnLst/>
              <a:rect r="r" b="b" t="t" l="l"/>
              <a:pathLst>
                <a:path h="583118" w="390037">
                  <a:moveTo>
                    <a:pt x="0" y="0"/>
                  </a:moveTo>
                  <a:lnTo>
                    <a:pt x="390037" y="0"/>
                  </a:lnTo>
                  <a:lnTo>
                    <a:pt x="390037" y="583117"/>
                  </a:lnTo>
                  <a:lnTo>
                    <a:pt x="0" y="583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2285594" y="2190995"/>
              <a:ext cx="1204609" cy="771523"/>
            </a:xfrm>
            <a:prstGeom prst="rect">
              <a:avLst/>
            </a:prstGeom>
          </p:spPr>
          <p:txBody>
            <a:bodyPr anchor="t" rtlCol="false" tIns="0" lIns="0" bIns="0" rIns="0">
              <a:spAutoFit/>
            </a:bodyPr>
            <a:lstStyle/>
            <a:p>
              <a:pPr algn="l">
                <a:lnSpc>
                  <a:spcPts val="4200"/>
                </a:lnSpc>
              </a:pPr>
              <a:r>
                <a:rPr lang="en-US" sz="3000" b="true">
                  <a:solidFill>
                    <a:srgbClr val="134E1A"/>
                  </a:solidFill>
                  <a:latin typeface="29LT Bukra Semi Condensed Bold"/>
                  <a:ea typeface="29LT Bukra Semi Condensed Bold"/>
                  <a:cs typeface="29LT Bukra Semi Condensed Bold"/>
                  <a:sym typeface="29LT Bukra Semi Condensed Bold"/>
                </a:rPr>
                <a:t>PIB </a:t>
              </a:r>
            </a:p>
          </p:txBody>
        </p:sp>
        <p:sp>
          <p:nvSpPr>
            <p:cNvPr name="TextBox 11" id="11"/>
            <p:cNvSpPr txBox="true"/>
            <p:nvPr/>
          </p:nvSpPr>
          <p:spPr>
            <a:xfrm rot="0">
              <a:off x="4880121" y="2229095"/>
              <a:ext cx="3575248" cy="601343"/>
            </a:xfrm>
            <a:prstGeom prst="rect">
              <a:avLst/>
            </a:prstGeom>
          </p:spPr>
          <p:txBody>
            <a:bodyPr anchor="t" rtlCol="false" tIns="0" lIns="0" bIns="0" rIns="0">
              <a:spAutoFit/>
            </a:bodyPr>
            <a:lstStyle/>
            <a:p>
              <a:pPr algn="l">
                <a:lnSpc>
                  <a:spcPts val="3360"/>
                </a:lnSpc>
                <a:spcBef>
                  <a:spcPct val="0"/>
                </a:spcBef>
              </a:pPr>
              <a:r>
                <a:rPr lang="en-US" sz="2400">
                  <a:solidFill>
                    <a:srgbClr val="134E1A"/>
                  </a:solidFill>
                  <a:latin typeface="29LT Bukra"/>
                  <a:ea typeface="29LT Bukra"/>
                  <a:cs typeface="29LT Bukra"/>
                  <a:sym typeface="29LT Bukra"/>
                </a:rPr>
                <a:t>91.4B MZN (24%) </a:t>
              </a:r>
            </a:p>
          </p:txBody>
        </p:sp>
        <p:sp>
          <p:nvSpPr>
            <p:cNvPr name="AutoShape 12" id="12"/>
            <p:cNvSpPr/>
            <p:nvPr/>
          </p:nvSpPr>
          <p:spPr>
            <a:xfrm flipV="true">
              <a:off x="4600721" y="2160724"/>
              <a:ext cx="0" cy="852594"/>
            </a:xfrm>
            <a:prstGeom prst="line">
              <a:avLst/>
            </a:prstGeom>
            <a:ln cap="flat" w="25400">
              <a:solidFill>
                <a:srgbClr val="000000"/>
              </a:solidFill>
              <a:prstDash val="solid"/>
              <a:headEnd type="none" len="sm" w="sm"/>
              <a:tailEnd type="none" len="sm" w="sm"/>
            </a:ln>
          </p:spPr>
        </p:sp>
        <p:grpSp>
          <p:nvGrpSpPr>
            <p:cNvPr name="Group 13" id="13"/>
            <p:cNvGrpSpPr/>
            <p:nvPr/>
          </p:nvGrpSpPr>
          <p:grpSpPr>
            <a:xfrm rot="0">
              <a:off x="336257" y="3250091"/>
              <a:ext cx="8478352" cy="1122129"/>
              <a:chOff x="0" y="0"/>
              <a:chExt cx="1674736" cy="221655"/>
            </a:xfrm>
          </p:grpSpPr>
          <p:sp>
            <p:nvSpPr>
              <p:cNvPr name="Freeform 14" id="14"/>
              <p:cNvSpPr/>
              <p:nvPr/>
            </p:nvSpPr>
            <p:spPr>
              <a:xfrm flipH="false" flipV="false" rot="0">
                <a:off x="0" y="0"/>
                <a:ext cx="1674736" cy="221655"/>
              </a:xfrm>
              <a:custGeom>
                <a:avLst/>
                <a:gdLst/>
                <a:ahLst/>
                <a:cxnLst/>
                <a:rect r="r" b="b" t="t" l="l"/>
                <a:pathLst>
                  <a:path h="221655" w="1674736">
                    <a:moveTo>
                      <a:pt x="0" y="0"/>
                    </a:moveTo>
                    <a:lnTo>
                      <a:pt x="1674736" y="0"/>
                    </a:lnTo>
                    <a:lnTo>
                      <a:pt x="1674736" y="221655"/>
                    </a:lnTo>
                    <a:lnTo>
                      <a:pt x="0" y="221655"/>
                    </a:lnTo>
                    <a:close/>
                  </a:path>
                </a:pathLst>
              </a:custGeom>
              <a:solidFill>
                <a:srgbClr val="F5F8EE"/>
              </a:solidFill>
              <a:ln cap="sq">
                <a:noFill/>
                <a:prstDash val="solid"/>
                <a:miter/>
              </a:ln>
            </p:spPr>
          </p:sp>
          <p:sp>
            <p:nvSpPr>
              <p:cNvPr name="TextBox 15" id="15"/>
              <p:cNvSpPr txBox="true"/>
              <p:nvPr/>
            </p:nvSpPr>
            <p:spPr>
              <a:xfrm>
                <a:off x="0" y="-57150"/>
                <a:ext cx="1674736" cy="278805"/>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16" id="16"/>
            <p:cNvGrpSpPr/>
            <p:nvPr/>
          </p:nvGrpSpPr>
          <p:grpSpPr>
            <a:xfrm rot="0">
              <a:off x="0" y="3272381"/>
              <a:ext cx="1086996" cy="1122129"/>
              <a:chOff x="0" y="0"/>
              <a:chExt cx="214715" cy="221655"/>
            </a:xfrm>
          </p:grpSpPr>
          <p:sp>
            <p:nvSpPr>
              <p:cNvPr name="Freeform 17" id="17"/>
              <p:cNvSpPr/>
              <p:nvPr/>
            </p:nvSpPr>
            <p:spPr>
              <a:xfrm flipH="false" flipV="false" rot="0">
                <a:off x="0" y="0"/>
                <a:ext cx="214715" cy="221655"/>
              </a:xfrm>
              <a:custGeom>
                <a:avLst/>
                <a:gdLst/>
                <a:ahLst/>
                <a:cxnLst/>
                <a:rect r="r" b="b" t="t" l="l"/>
                <a:pathLst>
                  <a:path h="221655" w="214715">
                    <a:moveTo>
                      <a:pt x="0" y="0"/>
                    </a:moveTo>
                    <a:lnTo>
                      <a:pt x="214715" y="0"/>
                    </a:lnTo>
                    <a:lnTo>
                      <a:pt x="214715" y="221655"/>
                    </a:lnTo>
                    <a:lnTo>
                      <a:pt x="0" y="221655"/>
                    </a:lnTo>
                    <a:close/>
                  </a:path>
                </a:pathLst>
              </a:custGeom>
              <a:solidFill>
                <a:srgbClr val="577550"/>
              </a:solidFill>
            </p:spPr>
          </p:sp>
          <p:sp>
            <p:nvSpPr>
              <p:cNvPr name="TextBox 18" id="18"/>
              <p:cNvSpPr txBox="true"/>
              <p:nvPr/>
            </p:nvSpPr>
            <p:spPr>
              <a:xfrm>
                <a:off x="0" y="-57150"/>
                <a:ext cx="214715" cy="278805"/>
              </a:xfrm>
              <a:prstGeom prst="rect">
                <a:avLst/>
              </a:prstGeom>
            </p:spPr>
            <p:txBody>
              <a:bodyPr anchor="ctr" rtlCol="false" tIns="50800" lIns="50800" bIns="50800" rIns="50800"/>
              <a:lstStyle/>
              <a:p>
                <a:pPr algn="ctr">
                  <a:lnSpc>
                    <a:spcPts val="3500"/>
                  </a:lnSpc>
                </a:pPr>
              </a:p>
            </p:txBody>
          </p:sp>
        </p:grpSp>
        <p:sp>
          <p:nvSpPr>
            <p:cNvPr name="Freeform 19" id="19"/>
            <p:cNvSpPr/>
            <p:nvPr/>
          </p:nvSpPr>
          <p:spPr>
            <a:xfrm flipH="false" flipV="false" rot="0">
              <a:off x="348480" y="3541887"/>
              <a:ext cx="390037" cy="583118"/>
            </a:xfrm>
            <a:custGeom>
              <a:avLst/>
              <a:gdLst/>
              <a:ahLst/>
              <a:cxnLst/>
              <a:rect r="r" b="b" t="t" l="l"/>
              <a:pathLst>
                <a:path h="583118" w="390037">
                  <a:moveTo>
                    <a:pt x="0" y="0"/>
                  </a:moveTo>
                  <a:lnTo>
                    <a:pt x="390037" y="0"/>
                  </a:lnTo>
                  <a:lnTo>
                    <a:pt x="390037" y="583118"/>
                  </a:lnTo>
                  <a:lnTo>
                    <a:pt x="0" y="5831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1683289" y="3432762"/>
              <a:ext cx="2409218" cy="771523"/>
            </a:xfrm>
            <a:prstGeom prst="rect">
              <a:avLst/>
            </a:prstGeom>
          </p:spPr>
          <p:txBody>
            <a:bodyPr anchor="t" rtlCol="false" tIns="0" lIns="0" bIns="0" rIns="0">
              <a:spAutoFit/>
            </a:bodyPr>
            <a:lstStyle/>
            <a:p>
              <a:pPr algn="l">
                <a:lnSpc>
                  <a:spcPts val="4200"/>
                </a:lnSpc>
              </a:pPr>
              <a:r>
                <a:rPr lang="en-US" sz="3000" b="true">
                  <a:solidFill>
                    <a:srgbClr val="134E1A"/>
                  </a:solidFill>
                  <a:latin typeface="29LT Bukra Semi Condensed Bold"/>
                  <a:ea typeface="29LT Bukra Semi Condensed Bold"/>
                  <a:cs typeface="29LT Bukra Semi Condensed Bold"/>
                  <a:sym typeface="29LT Bukra Semi Condensed Bold"/>
                </a:rPr>
                <a:t>Emprego </a:t>
              </a:r>
            </a:p>
          </p:txBody>
        </p:sp>
        <p:sp>
          <p:nvSpPr>
            <p:cNvPr name="TextBox 21" id="21"/>
            <p:cNvSpPr txBox="true"/>
            <p:nvPr/>
          </p:nvSpPr>
          <p:spPr>
            <a:xfrm rot="0">
              <a:off x="4880121" y="3470862"/>
              <a:ext cx="1044972" cy="601343"/>
            </a:xfrm>
            <a:prstGeom prst="rect">
              <a:avLst/>
            </a:prstGeom>
          </p:spPr>
          <p:txBody>
            <a:bodyPr anchor="t" rtlCol="false" tIns="0" lIns="0" bIns="0" rIns="0">
              <a:spAutoFit/>
            </a:bodyPr>
            <a:lstStyle/>
            <a:p>
              <a:pPr algn="l">
                <a:lnSpc>
                  <a:spcPts val="3360"/>
                </a:lnSpc>
                <a:spcBef>
                  <a:spcPct val="0"/>
                </a:spcBef>
              </a:pPr>
              <a:r>
                <a:rPr lang="en-US" sz="2400">
                  <a:solidFill>
                    <a:srgbClr val="134E1A"/>
                  </a:solidFill>
                  <a:latin typeface="29LT Bukra"/>
                  <a:ea typeface="29LT Bukra"/>
                  <a:cs typeface="29LT Bukra"/>
                  <a:sym typeface="29LT Bukra"/>
                </a:rPr>
                <a:t>70%</a:t>
              </a:r>
            </a:p>
          </p:txBody>
        </p:sp>
        <p:sp>
          <p:nvSpPr>
            <p:cNvPr name="AutoShape 22" id="22"/>
            <p:cNvSpPr/>
            <p:nvPr/>
          </p:nvSpPr>
          <p:spPr>
            <a:xfrm flipV="true">
              <a:off x="4600721" y="3402491"/>
              <a:ext cx="0" cy="852594"/>
            </a:xfrm>
            <a:prstGeom prst="line">
              <a:avLst/>
            </a:prstGeom>
            <a:ln cap="flat" w="25400">
              <a:solidFill>
                <a:srgbClr val="000000"/>
              </a:solidFill>
              <a:prstDash val="solid"/>
              <a:headEnd type="none" len="sm" w="sm"/>
              <a:tailEnd type="none" len="sm" w="sm"/>
            </a:ln>
          </p:spPr>
        </p:sp>
        <p:grpSp>
          <p:nvGrpSpPr>
            <p:cNvPr name="Group 23" id="23"/>
            <p:cNvGrpSpPr/>
            <p:nvPr/>
          </p:nvGrpSpPr>
          <p:grpSpPr>
            <a:xfrm rot="0">
              <a:off x="336257" y="4458011"/>
              <a:ext cx="8478352" cy="1122129"/>
              <a:chOff x="0" y="0"/>
              <a:chExt cx="1674736" cy="221655"/>
            </a:xfrm>
          </p:grpSpPr>
          <p:sp>
            <p:nvSpPr>
              <p:cNvPr name="Freeform 24" id="24"/>
              <p:cNvSpPr/>
              <p:nvPr/>
            </p:nvSpPr>
            <p:spPr>
              <a:xfrm flipH="false" flipV="false" rot="0">
                <a:off x="0" y="0"/>
                <a:ext cx="1674736" cy="221655"/>
              </a:xfrm>
              <a:custGeom>
                <a:avLst/>
                <a:gdLst/>
                <a:ahLst/>
                <a:cxnLst/>
                <a:rect r="r" b="b" t="t" l="l"/>
                <a:pathLst>
                  <a:path h="221655" w="1674736">
                    <a:moveTo>
                      <a:pt x="0" y="0"/>
                    </a:moveTo>
                    <a:lnTo>
                      <a:pt x="1674736" y="0"/>
                    </a:lnTo>
                    <a:lnTo>
                      <a:pt x="1674736" y="221655"/>
                    </a:lnTo>
                    <a:lnTo>
                      <a:pt x="0" y="221655"/>
                    </a:lnTo>
                    <a:close/>
                  </a:path>
                </a:pathLst>
              </a:custGeom>
              <a:solidFill>
                <a:srgbClr val="F5F8EE"/>
              </a:solidFill>
              <a:ln cap="sq">
                <a:noFill/>
                <a:prstDash val="solid"/>
                <a:miter/>
              </a:ln>
            </p:spPr>
          </p:sp>
          <p:sp>
            <p:nvSpPr>
              <p:cNvPr name="TextBox 25" id="25"/>
              <p:cNvSpPr txBox="true"/>
              <p:nvPr/>
            </p:nvSpPr>
            <p:spPr>
              <a:xfrm>
                <a:off x="0" y="-57150"/>
                <a:ext cx="1674736" cy="278805"/>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26" id="26"/>
            <p:cNvGrpSpPr/>
            <p:nvPr/>
          </p:nvGrpSpPr>
          <p:grpSpPr>
            <a:xfrm rot="0">
              <a:off x="0" y="4471218"/>
              <a:ext cx="1086996" cy="1122129"/>
              <a:chOff x="0" y="0"/>
              <a:chExt cx="214715" cy="221655"/>
            </a:xfrm>
          </p:grpSpPr>
          <p:sp>
            <p:nvSpPr>
              <p:cNvPr name="Freeform 27" id="27"/>
              <p:cNvSpPr/>
              <p:nvPr/>
            </p:nvSpPr>
            <p:spPr>
              <a:xfrm flipH="false" flipV="false" rot="0">
                <a:off x="0" y="0"/>
                <a:ext cx="214715" cy="221655"/>
              </a:xfrm>
              <a:custGeom>
                <a:avLst/>
                <a:gdLst/>
                <a:ahLst/>
                <a:cxnLst/>
                <a:rect r="r" b="b" t="t" l="l"/>
                <a:pathLst>
                  <a:path h="221655" w="214715">
                    <a:moveTo>
                      <a:pt x="0" y="0"/>
                    </a:moveTo>
                    <a:lnTo>
                      <a:pt x="214715" y="0"/>
                    </a:lnTo>
                    <a:lnTo>
                      <a:pt x="214715" y="221655"/>
                    </a:lnTo>
                    <a:lnTo>
                      <a:pt x="0" y="221655"/>
                    </a:lnTo>
                    <a:close/>
                  </a:path>
                </a:pathLst>
              </a:custGeom>
              <a:solidFill>
                <a:srgbClr val="577550"/>
              </a:solidFill>
            </p:spPr>
          </p:sp>
          <p:sp>
            <p:nvSpPr>
              <p:cNvPr name="TextBox 28" id="28"/>
              <p:cNvSpPr txBox="true"/>
              <p:nvPr/>
            </p:nvSpPr>
            <p:spPr>
              <a:xfrm>
                <a:off x="0" y="-57150"/>
                <a:ext cx="214715" cy="278805"/>
              </a:xfrm>
              <a:prstGeom prst="rect">
                <a:avLst/>
              </a:prstGeom>
            </p:spPr>
            <p:txBody>
              <a:bodyPr anchor="ctr" rtlCol="false" tIns="50800" lIns="50800" bIns="50800" rIns="50800"/>
              <a:lstStyle/>
              <a:p>
                <a:pPr algn="ctr">
                  <a:lnSpc>
                    <a:spcPts val="3500"/>
                  </a:lnSpc>
                </a:pPr>
              </a:p>
            </p:txBody>
          </p:sp>
        </p:grpSp>
        <p:sp>
          <p:nvSpPr>
            <p:cNvPr name="Freeform 29" id="29"/>
            <p:cNvSpPr/>
            <p:nvPr/>
          </p:nvSpPr>
          <p:spPr>
            <a:xfrm flipH="false" flipV="false" rot="0">
              <a:off x="348480" y="4740724"/>
              <a:ext cx="390037" cy="583118"/>
            </a:xfrm>
            <a:custGeom>
              <a:avLst/>
              <a:gdLst/>
              <a:ahLst/>
              <a:cxnLst/>
              <a:rect r="r" b="b" t="t" l="l"/>
              <a:pathLst>
                <a:path h="583118" w="390037">
                  <a:moveTo>
                    <a:pt x="0" y="0"/>
                  </a:moveTo>
                  <a:lnTo>
                    <a:pt x="390037" y="0"/>
                  </a:lnTo>
                  <a:lnTo>
                    <a:pt x="390037" y="583117"/>
                  </a:lnTo>
                  <a:lnTo>
                    <a:pt x="0" y="583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0" id="30"/>
            <p:cNvSpPr txBox="true"/>
            <p:nvPr/>
          </p:nvSpPr>
          <p:spPr>
            <a:xfrm rot="0">
              <a:off x="1200363" y="4603659"/>
              <a:ext cx="3375070" cy="771523"/>
            </a:xfrm>
            <a:prstGeom prst="rect">
              <a:avLst/>
            </a:prstGeom>
          </p:spPr>
          <p:txBody>
            <a:bodyPr anchor="t" rtlCol="false" tIns="0" lIns="0" bIns="0" rIns="0">
              <a:spAutoFit/>
            </a:bodyPr>
            <a:lstStyle/>
            <a:p>
              <a:pPr algn="l">
                <a:lnSpc>
                  <a:spcPts val="4200"/>
                </a:lnSpc>
              </a:pPr>
              <a:r>
                <a:rPr lang="en-US" sz="3000" b="true">
                  <a:solidFill>
                    <a:srgbClr val="134E1A"/>
                  </a:solidFill>
                  <a:latin typeface="29LT Bukra Semi Condensed Bold"/>
                  <a:ea typeface="29LT Bukra Semi Condensed Bold"/>
                  <a:cs typeface="29LT Bukra Semi Condensed Bold"/>
                  <a:sym typeface="29LT Bukra Semi Condensed Bold"/>
                </a:rPr>
                <a:t>Mapeamento</a:t>
              </a:r>
            </a:p>
          </p:txBody>
        </p:sp>
        <p:sp>
          <p:nvSpPr>
            <p:cNvPr name="TextBox 31" id="31"/>
            <p:cNvSpPr txBox="true"/>
            <p:nvPr/>
          </p:nvSpPr>
          <p:spPr>
            <a:xfrm rot="0">
              <a:off x="4880121" y="4707799"/>
              <a:ext cx="3292078" cy="601343"/>
            </a:xfrm>
            <a:prstGeom prst="rect">
              <a:avLst/>
            </a:prstGeom>
          </p:spPr>
          <p:txBody>
            <a:bodyPr anchor="t" rtlCol="false" tIns="0" lIns="0" bIns="0" rIns="0">
              <a:spAutoFit/>
            </a:bodyPr>
            <a:lstStyle/>
            <a:p>
              <a:pPr algn="l">
                <a:lnSpc>
                  <a:spcPts val="3360"/>
                </a:lnSpc>
                <a:spcBef>
                  <a:spcPct val="0"/>
                </a:spcBef>
              </a:pPr>
              <a:r>
                <a:rPr lang="en-US" sz="2400">
                  <a:solidFill>
                    <a:srgbClr val="134E1A"/>
                  </a:solidFill>
                  <a:latin typeface="29LT Bukra"/>
                  <a:ea typeface="29LT Bukra"/>
                  <a:cs typeface="29LT Bukra"/>
                  <a:sym typeface="29LT Bukra"/>
                </a:rPr>
                <a:t>950+ empresas </a:t>
              </a:r>
            </a:p>
          </p:txBody>
        </p:sp>
        <p:sp>
          <p:nvSpPr>
            <p:cNvPr name="AutoShape 32" id="32"/>
            <p:cNvSpPr/>
            <p:nvPr/>
          </p:nvSpPr>
          <p:spPr>
            <a:xfrm flipV="true">
              <a:off x="4600721" y="4639428"/>
              <a:ext cx="0" cy="852594"/>
            </a:xfrm>
            <a:prstGeom prst="line">
              <a:avLst/>
            </a:prstGeom>
            <a:ln cap="flat" w="25400">
              <a:solidFill>
                <a:srgbClr val="000000"/>
              </a:solidFill>
              <a:prstDash val="solid"/>
              <a:headEnd type="none" len="sm" w="sm"/>
              <a:tailEnd type="none" len="sm" w="sm"/>
            </a:ln>
          </p:spPr>
        </p:sp>
        <p:grpSp>
          <p:nvGrpSpPr>
            <p:cNvPr name="Group 33" id="33"/>
            <p:cNvGrpSpPr/>
            <p:nvPr/>
          </p:nvGrpSpPr>
          <p:grpSpPr>
            <a:xfrm rot="0">
              <a:off x="336257" y="833979"/>
              <a:ext cx="8478352" cy="1115659"/>
              <a:chOff x="0" y="0"/>
              <a:chExt cx="1674736" cy="220377"/>
            </a:xfrm>
          </p:grpSpPr>
          <p:sp>
            <p:nvSpPr>
              <p:cNvPr name="Freeform 34" id="34"/>
              <p:cNvSpPr/>
              <p:nvPr/>
            </p:nvSpPr>
            <p:spPr>
              <a:xfrm flipH="false" flipV="false" rot="0">
                <a:off x="0" y="0"/>
                <a:ext cx="1674736" cy="220377"/>
              </a:xfrm>
              <a:custGeom>
                <a:avLst/>
                <a:gdLst/>
                <a:ahLst/>
                <a:cxnLst/>
                <a:rect r="r" b="b" t="t" l="l"/>
                <a:pathLst>
                  <a:path h="220377" w="1674736">
                    <a:moveTo>
                      <a:pt x="0" y="0"/>
                    </a:moveTo>
                    <a:lnTo>
                      <a:pt x="1674736" y="0"/>
                    </a:lnTo>
                    <a:lnTo>
                      <a:pt x="1674736" y="220377"/>
                    </a:lnTo>
                    <a:lnTo>
                      <a:pt x="0" y="220377"/>
                    </a:lnTo>
                    <a:close/>
                  </a:path>
                </a:pathLst>
              </a:custGeom>
              <a:solidFill>
                <a:srgbClr val="F5F8EE"/>
              </a:solidFill>
              <a:ln cap="sq">
                <a:noFill/>
                <a:prstDash val="solid"/>
                <a:miter/>
              </a:ln>
            </p:spPr>
          </p:sp>
          <p:sp>
            <p:nvSpPr>
              <p:cNvPr name="TextBox 35" id="35"/>
              <p:cNvSpPr txBox="true"/>
              <p:nvPr/>
            </p:nvSpPr>
            <p:spPr>
              <a:xfrm>
                <a:off x="0" y="-57150"/>
                <a:ext cx="1674736" cy="277527"/>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36" id="36"/>
            <p:cNvGrpSpPr/>
            <p:nvPr/>
          </p:nvGrpSpPr>
          <p:grpSpPr>
            <a:xfrm rot="0">
              <a:off x="0" y="853432"/>
              <a:ext cx="1086996" cy="1122129"/>
              <a:chOff x="0" y="0"/>
              <a:chExt cx="214715" cy="221655"/>
            </a:xfrm>
          </p:grpSpPr>
          <p:sp>
            <p:nvSpPr>
              <p:cNvPr name="Freeform 37" id="37"/>
              <p:cNvSpPr/>
              <p:nvPr/>
            </p:nvSpPr>
            <p:spPr>
              <a:xfrm flipH="false" flipV="false" rot="0">
                <a:off x="0" y="0"/>
                <a:ext cx="214715" cy="221655"/>
              </a:xfrm>
              <a:custGeom>
                <a:avLst/>
                <a:gdLst/>
                <a:ahLst/>
                <a:cxnLst/>
                <a:rect r="r" b="b" t="t" l="l"/>
                <a:pathLst>
                  <a:path h="221655" w="214715">
                    <a:moveTo>
                      <a:pt x="0" y="0"/>
                    </a:moveTo>
                    <a:lnTo>
                      <a:pt x="214715" y="0"/>
                    </a:lnTo>
                    <a:lnTo>
                      <a:pt x="214715" y="221655"/>
                    </a:lnTo>
                    <a:lnTo>
                      <a:pt x="0" y="221655"/>
                    </a:lnTo>
                    <a:close/>
                  </a:path>
                </a:pathLst>
              </a:custGeom>
              <a:solidFill>
                <a:srgbClr val="577550"/>
              </a:solidFill>
            </p:spPr>
          </p:sp>
          <p:sp>
            <p:nvSpPr>
              <p:cNvPr name="TextBox 38" id="38"/>
              <p:cNvSpPr txBox="true"/>
              <p:nvPr/>
            </p:nvSpPr>
            <p:spPr>
              <a:xfrm>
                <a:off x="0" y="-57150"/>
                <a:ext cx="214715" cy="278805"/>
              </a:xfrm>
              <a:prstGeom prst="rect">
                <a:avLst/>
              </a:prstGeom>
            </p:spPr>
            <p:txBody>
              <a:bodyPr anchor="ctr" rtlCol="false" tIns="50800" lIns="50800" bIns="50800" rIns="50800"/>
              <a:lstStyle/>
              <a:p>
                <a:pPr algn="ctr">
                  <a:lnSpc>
                    <a:spcPts val="3500"/>
                  </a:lnSpc>
                </a:pPr>
              </a:p>
            </p:txBody>
          </p:sp>
        </p:grpSp>
        <p:sp>
          <p:nvSpPr>
            <p:cNvPr name="Freeform 39" id="39"/>
            <p:cNvSpPr/>
            <p:nvPr/>
          </p:nvSpPr>
          <p:spPr>
            <a:xfrm flipH="false" flipV="false" rot="0">
              <a:off x="348480" y="1122938"/>
              <a:ext cx="390037" cy="583118"/>
            </a:xfrm>
            <a:custGeom>
              <a:avLst/>
              <a:gdLst/>
              <a:ahLst/>
              <a:cxnLst/>
              <a:rect r="r" b="b" t="t" l="l"/>
              <a:pathLst>
                <a:path h="583118" w="390037">
                  <a:moveTo>
                    <a:pt x="0" y="0"/>
                  </a:moveTo>
                  <a:lnTo>
                    <a:pt x="390037" y="0"/>
                  </a:lnTo>
                  <a:lnTo>
                    <a:pt x="390037" y="583118"/>
                  </a:lnTo>
                  <a:lnTo>
                    <a:pt x="0" y="5831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0" id="40"/>
            <p:cNvSpPr txBox="true"/>
            <p:nvPr/>
          </p:nvSpPr>
          <p:spPr>
            <a:xfrm rot="0">
              <a:off x="1683289" y="974131"/>
              <a:ext cx="2409218" cy="771523"/>
            </a:xfrm>
            <a:prstGeom prst="rect">
              <a:avLst/>
            </a:prstGeom>
          </p:spPr>
          <p:txBody>
            <a:bodyPr anchor="t" rtlCol="false" tIns="0" lIns="0" bIns="0" rIns="0">
              <a:spAutoFit/>
            </a:bodyPr>
            <a:lstStyle/>
            <a:p>
              <a:pPr algn="l">
                <a:lnSpc>
                  <a:spcPts val="4200"/>
                </a:lnSpc>
              </a:pPr>
              <a:r>
                <a:rPr lang="en-US" sz="3000" b="true">
                  <a:solidFill>
                    <a:srgbClr val="134E1A"/>
                  </a:solidFill>
                  <a:latin typeface="29LT Bukra Semi Condensed Bold"/>
                  <a:ea typeface="29LT Bukra Semi Condensed Bold"/>
                  <a:cs typeface="29LT Bukra Semi Condensed Bold"/>
                  <a:sym typeface="29LT Bukra Semi Condensed Bold"/>
                </a:rPr>
                <a:t>Produção</a:t>
              </a:r>
            </a:p>
          </p:txBody>
        </p:sp>
        <p:sp>
          <p:nvSpPr>
            <p:cNvPr name="TextBox 41" id="41"/>
            <p:cNvSpPr txBox="true"/>
            <p:nvPr/>
          </p:nvSpPr>
          <p:spPr>
            <a:xfrm rot="0">
              <a:off x="4880121" y="1012231"/>
              <a:ext cx="3591917" cy="601343"/>
            </a:xfrm>
            <a:prstGeom prst="rect">
              <a:avLst/>
            </a:prstGeom>
          </p:spPr>
          <p:txBody>
            <a:bodyPr anchor="t" rtlCol="false" tIns="0" lIns="0" bIns="0" rIns="0">
              <a:spAutoFit/>
            </a:bodyPr>
            <a:lstStyle/>
            <a:p>
              <a:pPr algn="l">
                <a:lnSpc>
                  <a:spcPts val="3360"/>
                </a:lnSpc>
                <a:spcBef>
                  <a:spcPct val="0"/>
                </a:spcBef>
              </a:pPr>
              <a:r>
                <a:rPr lang="en-US" sz="2400">
                  <a:solidFill>
                    <a:srgbClr val="134E1A"/>
                  </a:solidFill>
                  <a:latin typeface="29LT Bukra"/>
                  <a:ea typeface="29LT Bukra"/>
                  <a:cs typeface="29LT Bukra"/>
                  <a:sym typeface="29LT Bukra"/>
                </a:rPr>
                <a:t>20M+ Tons (+5%)</a:t>
              </a:r>
            </a:p>
          </p:txBody>
        </p:sp>
        <p:sp>
          <p:nvSpPr>
            <p:cNvPr name="AutoShape 42" id="42"/>
            <p:cNvSpPr/>
            <p:nvPr/>
          </p:nvSpPr>
          <p:spPr>
            <a:xfrm flipV="true">
              <a:off x="4600721" y="943860"/>
              <a:ext cx="0" cy="852594"/>
            </a:xfrm>
            <a:prstGeom prst="line">
              <a:avLst/>
            </a:prstGeom>
            <a:ln cap="flat" w="25400">
              <a:solidFill>
                <a:srgbClr val="000000"/>
              </a:solidFill>
              <a:prstDash val="solid"/>
              <a:headEnd type="none" len="sm" w="sm"/>
              <a:tailEnd type="none" len="sm" w="sm"/>
            </a:ln>
          </p:spPr>
        </p:sp>
        <p:grpSp>
          <p:nvGrpSpPr>
            <p:cNvPr name="Group 43" id="43"/>
            <p:cNvGrpSpPr/>
            <p:nvPr/>
          </p:nvGrpSpPr>
          <p:grpSpPr>
            <a:xfrm rot="0">
              <a:off x="0" y="0"/>
              <a:ext cx="8814609" cy="755229"/>
              <a:chOff x="0" y="0"/>
              <a:chExt cx="1741157" cy="149181"/>
            </a:xfrm>
          </p:grpSpPr>
          <p:sp>
            <p:nvSpPr>
              <p:cNvPr name="Freeform 44" id="44"/>
              <p:cNvSpPr/>
              <p:nvPr/>
            </p:nvSpPr>
            <p:spPr>
              <a:xfrm flipH="false" flipV="false" rot="0">
                <a:off x="0" y="0"/>
                <a:ext cx="1741157" cy="149181"/>
              </a:xfrm>
              <a:custGeom>
                <a:avLst/>
                <a:gdLst/>
                <a:ahLst/>
                <a:cxnLst/>
                <a:rect r="r" b="b" t="t" l="l"/>
                <a:pathLst>
                  <a:path h="149181" w="1741157">
                    <a:moveTo>
                      <a:pt x="0" y="0"/>
                    </a:moveTo>
                    <a:lnTo>
                      <a:pt x="1741157" y="0"/>
                    </a:lnTo>
                    <a:lnTo>
                      <a:pt x="1741157" y="149181"/>
                    </a:lnTo>
                    <a:lnTo>
                      <a:pt x="0" y="149181"/>
                    </a:lnTo>
                    <a:close/>
                  </a:path>
                </a:pathLst>
              </a:custGeom>
              <a:solidFill>
                <a:srgbClr val="0D9044"/>
              </a:solidFill>
            </p:spPr>
          </p:sp>
          <p:sp>
            <p:nvSpPr>
              <p:cNvPr name="TextBox 45" id="45"/>
              <p:cNvSpPr txBox="true"/>
              <p:nvPr/>
            </p:nvSpPr>
            <p:spPr>
              <a:xfrm>
                <a:off x="0" y="-57150"/>
                <a:ext cx="1741157" cy="206331"/>
              </a:xfrm>
              <a:prstGeom prst="rect">
                <a:avLst/>
              </a:prstGeom>
            </p:spPr>
            <p:txBody>
              <a:bodyPr anchor="ctr" rtlCol="false" tIns="50800" lIns="50800" bIns="50800" rIns="50800"/>
              <a:lstStyle/>
              <a:p>
                <a:pPr algn="ctr">
                  <a:lnSpc>
                    <a:spcPts val="3500"/>
                  </a:lnSpc>
                </a:pPr>
              </a:p>
            </p:txBody>
          </p:sp>
        </p:grpSp>
        <p:sp>
          <p:nvSpPr>
            <p:cNvPr name="TextBox 46" id="46"/>
            <p:cNvSpPr txBox="true"/>
            <p:nvPr/>
          </p:nvSpPr>
          <p:spPr>
            <a:xfrm rot="0">
              <a:off x="322366" y="37679"/>
              <a:ext cx="8166698" cy="622721"/>
            </a:xfrm>
            <a:prstGeom prst="rect">
              <a:avLst/>
            </a:prstGeom>
          </p:spPr>
          <p:txBody>
            <a:bodyPr anchor="t" rtlCol="false" tIns="0" lIns="0" bIns="0" rIns="0">
              <a:spAutoFit/>
            </a:bodyPr>
            <a:lstStyle/>
            <a:p>
              <a:pPr algn="ctr">
                <a:lnSpc>
                  <a:spcPts val="3920"/>
                </a:lnSpc>
                <a:spcBef>
                  <a:spcPct val="0"/>
                </a:spcBef>
              </a:pPr>
              <a:r>
                <a:rPr lang="en-US" b="true" sz="2800">
                  <a:solidFill>
                    <a:srgbClr val="FFFFFF"/>
                  </a:solidFill>
                  <a:latin typeface="Aileron Bold"/>
                  <a:ea typeface="Aileron Bold"/>
                  <a:cs typeface="Aileron Bold"/>
                  <a:sym typeface="Aileron Bold"/>
                </a:rPr>
                <a:t>Dados Macroeconómicos Reais</a:t>
              </a:r>
            </a:p>
          </p:txBody>
        </p:sp>
      </p:grpSp>
      <p:sp>
        <p:nvSpPr>
          <p:cNvPr name="TextBox 47" id="47"/>
          <p:cNvSpPr txBox="true"/>
          <p:nvPr/>
        </p:nvSpPr>
        <p:spPr>
          <a:xfrm rot="0">
            <a:off x="1028700" y="622345"/>
            <a:ext cx="16338824"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A SOL</a:t>
            </a:r>
            <a:r>
              <a:rPr lang="en-US" b="true" sz="6000" strike="noStrike" u="none">
                <a:solidFill>
                  <a:srgbClr val="134E1A"/>
                </a:solidFill>
                <a:latin typeface="Akzidenz-Grotesk Heavy"/>
                <a:ea typeface="Akzidenz-Grotesk Heavy"/>
                <a:cs typeface="Akzidenz-Grotesk Heavy"/>
                <a:sym typeface="Akzidenz-Grotesk Heavy"/>
              </a:rPr>
              <a:t>UÇÃO — BASE DE DADOS AGRO</a:t>
            </a:r>
          </a:p>
        </p:txBody>
      </p:sp>
      <p:sp>
        <p:nvSpPr>
          <p:cNvPr name="Freeform 48" id="48"/>
          <p:cNvSpPr/>
          <p:nvPr/>
        </p:nvSpPr>
        <p:spPr>
          <a:xfrm flipH="false" flipV="false" rot="0">
            <a:off x="1028700" y="1815271"/>
            <a:ext cx="2061808" cy="307397"/>
          </a:xfrm>
          <a:custGeom>
            <a:avLst/>
            <a:gdLst/>
            <a:ahLst/>
            <a:cxnLst/>
            <a:rect r="r" b="b" t="t" l="l"/>
            <a:pathLst>
              <a:path h="307397" w="2061808">
                <a:moveTo>
                  <a:pt x="0" y="0"/>
                </a:moveTo>
                <a:lnTo>
                  <a:pt x="2061808" y="0"/>
                </a:lnTo>
                <a:lnTo>
                  <a:pt x="2061808" y="307396"/>
                </a:lnTo>
                <a:lnTo>
                  <a:pt x="0" y="3073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9" id="49"/>
          <p:cNvSpPr txBox="true"/>
          <p:nvPr/>
        </p:nvSpPr>
        <p:spPr>
          <a:xfrm rot="0">
            <a:off x="7467983" y="2113142"/>
            <a:ext cx="9791317" cy="1958975"/>
          </a:xfrm>
          <a:prstGeom prst="rect">
            <a:avLst/>
          </a:prstGeom>
        </p:spPr>
        <p:txBody>
          <a:bodyPr anchor="t" rtlCol="false" tIns="0" lIns="0" bIns="0" rIns="0">
            <a:spAutoFit/>
          </a:bodyPr>
          <a:lstStyle/>
          <a:p>
            <a:pPr algn="l">
              <a:lnSpc>
                <a:spcPts val="4900"/>
              </a:lnSpc>
            </a:pPr>
            <a:r>
              <a:rPr lang="en-US" b="true" sz="3500">
                <a:solidFill>
                  <a:srgbClr val="322A2A"/>
                </a:solidFill>
                <a:latin typeface="29LT Bukra Semi Condensed Ultra-Bold"/>
                <a:ea typeface="29LT Bukra Semi Condensed Ultra-Bold"/>
                <a:cs typeface="29LT Bukra Semi Condensed Ultra-Bold"/>
                <a:sym typeface="29LT Bukra Semi Condensed Ultra-Bold"/>
              </a:rPr>
              <a:t>O qu</a:t>
            </a:r>
            <a:r>
              <a:rPr lang="en-US" b="true" sz="3500" strike="noStrike" u="none">
                <a:solidFill>
                  <a:srgbClr val="322A2A"/>
                </a:solidFill>
                <a:latin typeface="29LT Bukra Semi Condensed Ultra-Bold"/>
                <a:ea typeface="29LT Bukra Semi Condensed Ultra-Bold"/>
                <a:cs typeface="29LT Bukra Semi Condensed Ultra-Bold"/>
                <a:sym typeface="29LT Bukra Semi Condensed Ultra-Bold"/>
              </a:rPr>
              <a:t>e é — </a:t>
            </a:r>
            <a:r>
              <a:rPr lang="en-US" sz="3500" strike="noStrike" u="none">
                <a:solidFill>
                  <a:srgbClr val="322A2A"/>
                </a:solidFill>
                <a:latin typeface="29LT Bukra Semi Condensed"/>
                <a:ea typeface="29LT Bukra Semi Condensed"/>
                <a:cs typeface="29LT Bukra Semi Condensed"/>
                <a:sym typeface="29LT Bukra Semi Condensed"/>
              </a:rPr>
              <a:t>Plataforma digital unificada de cobertura nacional que conecta produtores, fornecedores, consumidores e agentes do Estado.</a:t>
            </a:r>
          </a:p>
        </p:txBody>
      </p:sp>
      <p:sp>
        <p:nvSpPr>
          <p:cNvPr name="TextBox 50" id="50"/>
          <p:cNvSpPr txBox="true"/>
          <p:nvPr/>
        </p:nvSpPr>
        <p:spPr>
          <a:xfrm rot="0">
            <a:off x="7493509" y="4442460"/>
            <a:ext cx="9874014" cy="4815840"/>
          </a:xfrm>
          <a:prstGeom prst="rect">
            <a:avLst/>
          </a:prstGeom>
        </p:spPr>
        <p:txBody>
          <a:bodyPr anchor="t" rtlCol="false" tIns="0" lIns="0" bIns="0" rIns="0">
            <a:spAutoFit/>
          </a:bodyPr>
          <a:lstStyle/>
          <a:p>
            <a:pPr algn="l">
              <a:lnSpc>
                <a:spcPts val="5355"/>
              </a:lnSpc>
            </a:pPr>
            <a:r>
              <a:rPr lang="en-US" sz="3500">
                <a:solidFill>
                  <a:srgbClr val="322A2A"/>
                </a:solidFill>
                <a:latin typeface="29LT Bukra Semi Condensed"/>
                <a:ea typeface="29LT Bukra Semi Condensed"/>
                <a:cs typeface="29LT Bukra Semi Condensed"/>
                <a:sym typeface="29LT Bukra Semi Condensed"/>
              </a:rPr>
              <a:t>A B</a:t>
            </a:r>
            <a:r>
              <a:rPr lang="en-US" sz="3500" strike="noStrike" u="none">
                <a:solidFill>
                  <a:srgbClr val="322A2A"/>
                </a:solidFill>
                <a:latin typeface="29LT Bukra Semi Condensed"/>
                <a:ea typeface="29LT Bukra Semi Condensed"/>
                <a:cs typeface="29LT Bukra Semi Condensed"/>
                <a:sym typeface="29LT Bukra Semi Condensed"/>
              </a:rPr>
              <a:t>ase de Dados Agro surge precisamente para ser a resposta digital aos diferentes desafios. </a:t>
            </a:r>
          </a:p>
          <a:p>
            <a:pPr algn="l">
              <a:lnSpc>
                <a:spcPts val="5355"/>
              </a:lnSpc>
            </a:pPr>
          </a:p>
          <a:p>
            <a:pPr algn="l">
              <a:lnSpc>
                <a:spcPts val="5355"/>
              </a:lnSpc>
            </a:pPr>
            <a:r>
              <a:rPr lang="en-US" sz="3500" strike="noStrike" u="none">
                <a:solidFill>
                  <a:srgbClr val="322A2A"/>
                </a:solidFill>
                <a:latin typeface="29LT Bukra Semi Condensed"/>
                <a:ea typeface="29LT Bukra Semi Condensed"/>
                <a:cs typeface="29LT Bukra Semi Condensed"/>
                <a:sym typeface="29LT Bukra Semi Condensed"/>
              </a:rPr>
              <a:t>Os dados oficiais do INE e MADER mostram que o sector agrícola gera 91.4 mil milhões de MZN no PIB e emprega 70% da nossa população, com cerca de </a:t>
            </a:r>
          </a:p>
          <a:p>
            <a:pPr algn="l">
              <a:lnSpc>
                <a:spcPts val="5355"/>
              </a:lnSpc>
            </a:pPr>
            <a:r>
              <a:rPr lang="en-US" sz="3500" strike="noStrike" u="none">
                <a:solidFill>
                  <a:srgbClr val="322A2A"/>
                </a:solidFill>
                <a:latin typeface="29LT Bukra Semi Condensed"/>
                <a:ea typeface="29LT Bukra Semi Condensed"/>
                <a:cs typeface="29LT Bukra Semi Condensed"/>
                <a:sym typeface="29LT Bukra Semi Condensed"/>
              </a:rPr>
              <a:t>2 000 empresas activas</a:t>
            </a:r>
          </a:p>
        </p:txBody>
      </p:sp>
      <p:grpSp>
        <p:nvGrpSpPr>
          <p:cNvPr name="Group 51" id="51"/>
          <p:cNvGrpSpPr/>
          <p:nvPr/>
        </p:nvGrpSpPr>
        <p:grpSpPr>
          <a:xfrm rot="0">
            <a:off x="0" y="9414578"/>
            <a:ext cx="18288000" cy="959109"/>
            <a:chOff x="0" y="0"/>
            <a:chExt cx="4816593" cy="252605"/>
          </a:xfrm>
        </p:grpSpPr>
        <p:sp>
          <p:nvSpPr>
            <p:cNvPr name="Freeform 52" id="52"/>
            <p:cNvSpPr/>
            <p:nvPr/>
          </p:nvSpPr>
          <p:spPr>
            <a:xfrm flipH="false" flipV="false" rot="0">
              <a:off x="0" y="0"/>
              <a:ext cx="4816592" cy="252605"/>
            </a:xfrm>
            <a:custGeom>
              <a:avLst/>
              <a:gdLst/>
              <a:ahLst/>
              <a:cxnLst/>
              <a:rect r="r" b="b" t="t" l="l"/>
              <a:pathLst>
                <a:path h="252605" w="4816592">
                  <a:moveTo>
                    <a:pt x="0" y="0"/>
                  </a:moveTo>
                  <a:lnTo>
                    <a:pt x="4816592" y="0"/>
                  </a:lnTo>
                  <a:lnTo>
                    <a:pt x="4816592" y="252605"/>
                  </a:lnTo>
                  <a:lnTo>
                    <a:pt x="0" y="252605"/>
                  </a:lnTo>
                  <a:close/>
                </a:path>
              </a:pathLst>
            </a:custGeom>
            <a:solidFill>
              <a:srgbClr val="134E1A"/>
            </a:solidFill>
          </p:spPr>
        </p:sp>
        <p:sp>
          <p:nvSpPr>
            <p:cNvPr name="TextBox 53" id="53"/>
            <p:cNvSpPr txBox="true"/>
            <p:nvPr/>
          </p:nvSpPr>
          <p:spPr>
            <a:xfrm>
              <a:off x="0" y="-57150"/>
              <a:ext cx="4816593" cy="309755"/>
            </a:xfrm>
            <a:prstGeom prst="rect">
              <a:avLst/>
            </a:prstGeom>
          </p:spPr>
          <p:txBody>
            <a:bodyPr anchor="ctr" rtlCol="false" tIns="50800" lIns="50800" bIns="50800" rIns="50800"/>
            <a:lstStyle/>
            <a:p>
              <a:pPr algn="ctr">
                <a:lnSpc>
                  <a:spcPts val="3500"/>
                </a:lnSpc>
              </a:pPr>
            </a:p>
          </p:txBody>
        </p:sp>
      </p:grpSp>
      <p:grpSp>
        <p:nvGrpSpPr>
          <p:cNvPr name="Group 54" id="54"/>
          <p:cNvGrpSpPr/>
          <p:nvPr/>
        </p:nvGrpSpPr>
        <p:grpSpPr>
          <a:xfrm rot="0">
            <a:off x="1028700" y="2303642"/>
            <a:ext cx="6150865" cy="7983358"/>
            <a:chOff x="0" y="0"/>
            <a:chExt cx="952930" cy="1236831"/>
          </a:xfrm>
        </p:grpSpPr>
        <p:sp>
          <p:nvSpPr>
            <p:cNvPr name="Freeform 55" id="55">
              <a:hlinkClick r:id="rId6" tooltip="http://basededadosagro.com"/>
            </p:cNvPr>
            <p:cNvSpPr/>
            <p:nvPr/>
          </p:nvSpPr>
          <p:spPr>
            <a:xfrm flipH="false" flipV="false" rot="0">
              <a:off x="0" y="0"/>
              <a:ext cx="952930" cy="1236831"/>
            </a:xfrm>
            <a:custGeom>
              <a:avLst/>
              <a:gdLst/>
              <a:ahLst/>
              <a:cxnLst/>
              <a:rect r="r" b="b" t="t" l="l"/>
              <a:pathLst>
                <a:path h="1236831" w="952930">
                  <a:moveTo>
                    <a:pt x="0" y="0"/>
                  </a:moveTo>
                  <a:lnTo>
                    <a:pt x="952930" y="0"/>
                  </a:lnTo>
                  <a:lnTo>
                    <a:pt x="952930" y="1236831"/>
                  </a:lnTo>
                  <a:lnTo>
                    <a:pt x="0" y="1236831"/>
                  </a:lnTo>
                  <a:close/>
                </a:path>
              </a:pathLst>
            </a:custGeom>
            <a:blipFill>
              <a:blip r:embed="rId7"/>
              <a:stretch>
                <a:fillRect l="-3991" t="0" r="-3991" b="-176170"/>
              </a:stretch>
            </a:blipFill>
            <a:ln w="19050" cap="sq">
              <a:solidFill>
                <a:srgbClr val="ABA194"/>
              </a:solidFill>
              <a:prstDash val="solid"/>
              <a:miter/>
            </a:ln>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sp>
        <p:nvSpPr>
          <p:cNvPr name="Freeform 2" id="2"/>
          <p:cNvSpPr/>
          <p:nvPr/>
        </p:nvSpPr>
        <p:spPr>
          <a:xfrm flipH="false" flipV="false" rot="0">
            <a:off x="1155762" y="2545877"/>
            <a:ext cx="2061808" cy="307397"/>
          </a:xfrm>
          <a:custGeom>
            <a:avLst/>
            <a:gdLst/>
            <a:ahLst/>
            <a:cxnLst/>
            <a:rect r="r" b="b" t="t" l="l"/>
            <a:pathLst>
              <a:path h="307397" w="2061808">
                <a:moveTo>
                  <a:pt x="0" y="0"/>
                </a:moveTo>
                <a:lnTo>
                  <a:pt x="2061808" y="0"/>
                </a:lnTo>
                <a:lnTo>
                  <a:pt x="2061808" y="307397"/>
                </a:lnTo>
                <a:lnTo>
                  <a:pt x="0" y="3073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540763"/>
            <a:ext cx="18288000" cy="959109"/>
            <a:chOff x="0" y="0"/>
            <a:chExt cx="4816593" cy="252605"/>
          </a:xfrm>
        </p:grpSpPr>
        <p:sp>
          <p:nvSpPr>
            <p:cNvPr name="Freeform 4" id="4"/>
            <p:cNvSpPr/>
            <p:nvPr/>
          </p:nvSpPr>
          <p:spPr>
            <a:xfrm flipH="false" flipV="false" rot="0">
              <a:off x="0" y="0"/>
              <a:ext cx="4816592" cy="252605"/>
            </a:xfrm>
            <a:custGeom>
              <a:avLst/>
              <a:gdLst/>
              <a:ahLst/>
              <a:cxnLst/>
              <a:rect r="r" b="b" t="t" l="l"/>
              <a:pathLst>
                <a:path h="252605" w="4816592">
                  <a:moveTo>
                    <a:pt x="0" y="0"/>
                  </a:moveTo>
                  <a:lnTo>
                    <a:pt x="4816592" y="0"/>
                  </a:lnTo>
                  <a:lnTo>
                    <a:pt x="4816592" y="252605"/>
                  </a:lnTo>
                  <a:lnTo>
                    <a:pt x="0" y="252605"/>
                  </a:lnTo>
                  <a:close/>
                </a:path>
              </a:pathLst>
            </a:custGeom>
            <a:solidFill>
              <a:srgbClr val="134E1A"/>
            </a:solidFill>
          </p:spPr>
        </p:sp>
        <p:sp>
          <p:nvSpPr>
            <p:cNvPr name="TextBox 5" id="5"/>
            <p:cNvSpPr txBox="true"/>
            <p:nvPr/>
          </p:nvSpPr>
          <p:spPr>
            <a:xfrm>
              <a:off x="0" y="-57150"/>
              <a:ext cx="4816593" cy="309755"/>
            </a:xfrm>
            <a:prstGeom prst="rect">
              <a:avLst/>
            </a:prstGeom>
          </p:spPr>
          <p:txBody>
            <a:bodyPr anchor="ctr" rtlCol="false" tIns="50800" lIns="50800" bIns="50800" rIns="50800"/>
            <a:lstStyle/>
            <a:p>
              <a:pPr algn="ctr">
                <a:lnSpc>
                  <a:spcPts val="3500"/>
                </a:lnSpc>
              </a:pPr>
            </a:p>
          </p:txBody>
        </p:sp>
      </p:grpSp>
      <p:sp>
        <p:nvSpPr>
          <p:cNvPr name="Freeform 6" id="6"/>
          <p:cNvSpPr/>
          <p:nvPr/>
        </p:nvSpPr>
        <p:spPr>
          <a:xfrm flipH="false" flipV="false" rot="0">
            <a:off x="9230082" y="3349201"/>
            <a:ext cx="9057918" cy="5750097"/>
          </a:xfrm>
          <a:custGeom>
            <a:avLst/>
            <a:gdLst/>
            <a:ahLst/>
            <a:cxnLst/>
            <a:rect r="r" b="b" t="t" l="l"/>
            <a:pathLst>
              <a:path h="5750097" w="9057918">
                <a:moveTo>
                  <a:pt x="0" y="0"/>
                </a:moveTo>
                <a:lnTo>
                  <a:pt x="9057918" y="0"/>
                </a:lnTo>
                <a:lnTo>
                  <a:pt x="9057918" y="5750097"/>
                </a:lnTo>
                <a:lnTo>
                  <a:pt x="0" y="5750097"/>
                </a:lnTo>
                <a:lnTo>
                  <a:pt x="0" y="0"/>
                </a:lnTo>
                <a:close/>
              </a:path>
            </a:pathLst>
          </a:custGeom>
          <a:blipFill>
            <a:blip r:embed="rId4"/>
            <a:stretch>
              <a:fillRect l="-13049" t="0" r="-1265" b="0"/>
            </a:stretch>
          </a:blipFill>
        </p:spPr>
      </p:sp>
      <p:sp>
        <p:nvSpPr>
          <p:cNvPr name="TextBox 7" id="7"/>
          <p:cNvSpPr txBox="true"/>
          <p:nvPr/>
        </p:nvSpPr>
        <p:spPr>
          <a:xfrm rot="0">
            <a:off x="1028700" y="622345"/>
            <a:ext cx="16338824" cy="18878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INDICADORES MACROECONÓMICOS</a:t>
            </a:r>
            <a:r>
              <a:rPr lang="en-US" b="true" sz="6000" strike="noStrike" u="none">
                <a:solidFill>
                  <a:srgbClr val="134E1A"/>
                </a:solidFill>
                <a:latin typeface="Akzidenz-Grotesk Heavy"/>
                <a:ea typeface="Akzidenz-Grotesk Heavy"/>
                <a:cs typeface="Akzidenz-Grotesk Heavy"/>
                <a:sym typeface="Akzidenz-Grotesk Heavy"/>
              </a:rPr>
              <a:t> OFICIAIS (INE/MADER)</a:t>
            </a:r>
          </a:p>
        </p:txBody>
      </p:sp>
      <p:sp>
        <p:nvSpPr>
          <p:cNvPr name="TextBox 8" id="8"/>
          <p:cNvSpPr txBox="true"/>
          <p:nvPr/>
        </p:nvSpPr>
        <p:spPr>
          <a:xfrm rot="0">
            <a:off x="1114782" y="3407692"/>
            <a:ext cx="8115300" cy="5556916"/>
          </a:xfrm>
          <a:prstGeom prst="rect">
            <a:avLst/>
          </a:prstGeom>
        </p:spPr>
        <p:txBody>
          <a:bodyPr anchor="t" rtlCol="false" tIns="0" lIns="0" bIns="0" rIns="0">
            <a:spAutoFit/>
          </a:bodyPr>
          <a:lstStyle/>
          <a:p>
            <a:pPr algn="l">
              <a:lnSpc>
                <a:spcPts val="2730"/>
              </a:lnSpc>
            </a:pPr>
            <a:r>
              <a:rPr lang="en-US" b="true" sz="2237" strike="noStrike" u="none">
                <a:solidFill>
                  <a:srgbClr val="322A2A"/>
                </a:solidFill>
                <a:latin typeface="29LT Bukra Semi Condensed Bold"/>
                <a:ea typeface="29LT Bukra Semi Condensed Bold"/>
                <a:cs typeface="29LT Bukra Semi Condensed Bold"/>
                <a:sym typeface="29LT Bukra Semi Condensed Bold"/>
              </a:rPr>
              <a:t>Produção Agrária Nacional (2025/26): </a:t>
            </a:r>
          </a:p>
          <a:p>
            <a:pPr algn="l">
              <a:lnSpc>
                <a:spcPts val="2730"/>
              </a:lnSpc>
            </a:pPr>
            <a:r>
              <a:rPr lang="en-US" sz="2237" strike="noStrike" u="none">
                <a:solidFill>
                  <a:srgbClr val="322A2A"/>
                </a:solidFill>
                <a:latin typeface="29LT Bukra Semi Condensed"/>
                <a:ea typeface="29LT Bukra Semi Condensed"/>
                <a:cs typeface="29LT Bukra Semi Condensed"/>
                <a:sym typeface="29LT Bukra Semi Condensed"/>
              </a:rPr>
              <a:t>20M+ de Toneladas (+5% de crescimento anual).</a:t>
            </a:r>
          </a:p>
          <a:p>
            <a:pPr algn="l">
              <a:lnSpc>
                <a:spcPts val="2730"/>
              </a:lnSpc>
            </a:pPr>
          </a:p>
          <a:p>
            <a:pPr algn="l">
              <a:lnSpc>
                <a:spcPts val="2730"/>
              </a:lnSpc>
            </a:pPr>
            <a:r>
              <a:rPr lang="en-US" b="true" sz="2237" strike="noStrike" u="none">
                <a:solidFill>
                  <a:srgbClr val="322A2A"/>
                </a:solidFill>
                <a:latin typeface="29LT Bukra Semi Condensed Bold"/>
                <a:ea typeface="29LT Bukra Semi Condensed Bold"/>
                <a:cs typeface="29LT Bukra Semi Condensed Bold"/>
                <a:sym typeface="29LT Bukra Semi Condensed Bold"/>
              </a:rPr>
              <a:t>PIB Agrícola Nacional (Q2 2025):  </a:t>
            </a:r>
          </a:p>
          <a:p>
            <a:pPr algn="l">
              <a:lnSpc>
                <a:spcPts val="2730"/>
              </a:lnSpc>
            </a:pPr>
            <a:r>
              <a:rPr lang="en-US" sz="2237" strike="noStrike" u="none">
                <a:solidFill>
                  <a:srgbClr val="322A2A"/>
                </a:solidFill>
                <a:latin typeface="29LT Bukra Semi Condensed"/>
                <a:ea typeface="29LT Bukra Semi Condensed"/>
                <a:cs typeface="29LT Bukra Semi Condensed"/>
                <a:sym typeface="29LT Bukra Semi Condensed"/>
              </a:rPr>
              <a:t>91.4 Mil Milhões de MZN (~24% do PIB Nacional).</a:t>
            </a:r>
          </a:p>
          <a:p>
            <a:pPr algn="l">
              <a:lnSpc>
                <a:spcPts val="2730"/>
              </a:lnSpc>
            </a:pPr>
          </a:p>
          <a:p>
            <a:pPr algn="l">
              <a:lnSpc>
                <a:spcPts val="2730"/>
              </a:lnSpc>
            </a:pPr>
            <a:r>
              <a:rPr lang="en-US" b="true" sz="2237" strike="noStrike" u="none">
                <a:solidFill>
                  <a:srgbClr val="322A2A"/>
                </a:solidFill>
                <a:latin typeface="29LT Bukra Semi Condensed Bold"/>
                <a:ea typeface="29LT Bukra Semi Condensed Bold"/>
                <a:cs typeface="29LT Bukra Semi Condensed Bold"/>
                <a:sym typeface="29LT Bukra Semi Condensed Bold"/>
              </a:rPr>
              <a:t>Emprego Agrícola: </a:t>
            </a:r>
          </a:p>
          <a:p>
            <a:pPr algn="l">
              <a:lnSpc>
                <a:spcPts val="2730"/>
              </a:lnSpc>
            </a:pPr>
            <a:r>
              <a:rPr lang="en-US" sz="2237" strike="noStrike" u="none">
                <a:solidFill>
                  <a:srgbClr val="322A2A"/>
                </a:solidFill>
                <a:latin typeface="29LT Bukra Semi Condensed"/>
                <a:ea typeface="29LT Bukra Semi Condensed"/>
                <a:cs typeface="29LT Bukra Semi Condensed"/>
                <a:sym typeface="29LT Bukra Semi Condensed"/>
              </a:rPr>
              <a:t>70% da Força Laboral Nacional (Sustento da maioria da população).</a:t>
            </a:r>
          </a:p>
          <a:p>
            <a:pPr algn="l">
              <a:lnSpc>
                <a:spcPts val="2730"/>
              </a:lnSpc>
            </a:pPr>
          </a:p>
          <a:p>
            <a:pPr algn="l">
              <a:lnSpc>
                <a:spcPts val="2730"/>
              </a:lnSpc>
            </a:pPr>
            <a:r>
              <a:rPr lang="en-US" b="true" sz="2237" strike="noStrike" u="none">
                <a:solidFill>
                  <a:srgbClr val="322A2A"/>
                </a:solidFill>
                <a:latin typeface="29LT Bukra Semi Condensed Bold"/>
                <a:ea typeface="29LT Bukra Semi Condensed Bold"/>
                <a:cs typeface="29LT Bukra Semi Condensed Bold"/>
                <a:sym typeface="29LT Bukra Semi Condensed Bold"/>
              </a:rPr>
              <a:t>Directório de Empresas: </a:t>
            </a:r>
          </a:p>
          <a:p>
            <a:pPr algn="l">
              <a:lnSpc>
                <a:spcPts val="2730"/>
              </a:lnSpc>
            </a:pPr>
            <a:r>
              <a:rPr lang="en-US" sz="2237" strike="noStrike" u="none">
                <a:solidFill>
                  <a:srgbClr val="322A2A"/>
                </a:solidFill>
                <a:latin typeface="29LT Bukra Semi Condensed"/>
                <a:ea typeface="29LT Bukra Semi Condensed"/>
                <a:cs typeface="29LT Bukra Semi Condensed"/>
                <a:sym typeface="29LT Bukra Semi Condensed"/>
              </a:rPr>
              <a:t>950+ Empresas ativas mapeadas (~47% da amostra do sector privado comercial).</a:t>
            </a:r>
          </a:p>
          <a:p>
            <a:pPr algn="l">
              <a:lnSpc>
                <a:spcPts val="2730"/>
              </a:lnSpc>
            </a:pPr>
          </a:p>
          <a:p>
            <a:pPr algn="l">
              <a:lnSpc>
                <a:spcPts val="2730"/>
              </a:lnSpc>
            </a:pPr>
            <a:r>
              <a:rPr lang="en-US" b="true" sz="2237" strike="noStrike" u="none">
                <a:solidFill>
                  <a:srgbClr val="322A2A"/>
                </a:solidFill>
                <a:latin typeface="29LT Bukra Semi Condensed Bold"/>
                <a:ea typeface="29LT Bukra Semi Condensed Bold"/>
                <a:cs typeface="29LT Bukra Semi Condensed Bold"/>
                <a:sym typeface="29LT Bukra Semi Condensed Bold"/>
              </a:rPr>
              <a:t>Estrutura Agrária: </a:t>
            </a:r>
          </a:p>
          <a:p>
            <a:pPr algn="l">
              <a:lnSpc>
                <a:spcPts val="2730"/>
              </a:lnSpc>
            </a:pPr>
            <a:r>
              <a:rPr lang="en-US" sz="2237" strike="noStrike" u="none">
                <a:solidFill>
                  <a:srgbClr val="322A2A"/>
                </a:solidFill>
                <a:latin typeface="29LT Bukra Semi Condensed"/>
                <a:ea typeface="29LT Bukra Semi Condensed"/>
                <a:cs typeface="29LT Bukra Semi Condensed"/>
                <a:sym typeface="29LT Bukra Semi Condensed"/>
              </a:rPr>
              <a:t>4 Milhões de explorações familiares de subsistência vs. ~2.000 empresas comerciais.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6890440"/>
            <a:ext cx="18288000" cy="3391727"/>
            <a:chOff x="0" y="0"/>
            <a:chExt cx="4816593" cy="893294"/>
          </a:xfrm>
        </p:grpSpPr>
        <p:sp>
          <p:nvSpPr>
            <p:cNvPr name="Freeform 3" id="3"/>
            <p:cNvSpPr/>
            <p:nvPr/>
          </p:nvSpPr>
          <p:spPr>
            <a:xfrm flipH="false" flipV="false" rot="0">
              <a:off x="0" y="0"/>
              <a:ext cx="4816592" cy="893294"/>
            </a:xfrm>
            <a:custGeom>
              <a:avLst/>
              <a:gdLst/>
              <a:ahLst/>
              <a:cxnLst/>
              <a:rect r="r" b="b" t="t" l="l"/>
              <a:pathLst>
                <a:path h="893294" w="4816592">
                  <a:moveTo>
                    <a:pt x="0" y="0"/>
                  </a:moveTo>
                  <a:lnTo>
                    <a:pt x="4816592" y="0"/>
                  </a:lnTo>
                  <a:lnTo>
                    <a:pt x="4816592" y="893294"/>
                  </a:lnTo>
                  <a:lnTo>
                    <a:pt x="0" y="893294"/>
                  </a:lnTo>
                  <a:close/>
                </a:path>
              </a:pathLst>
            </a:custGeom>
            <a:solidFill>
              <a:srgbClr val="D9DFCE"/>
            </a:solidFill>
          </p:spPr>
        </p:sp>
        <p:sp>
          <p:nvSpPr>
            <p:cNvPr name="TextBox 4" id="4"/>
            <p:cNvSpPr txBox="true"/>
            <p:nvPr/>
          </p:nvSpPr>
          <p:spPr>
            <a:xfrm>
              <a:off x="0" y="-57150"/>
              <a:ext cx="4816593" cy="950444"/>
            </a:xfrm>
            <a:prstGeom prst="rect">
              <a:avLst/>
            </a:prstGeom>
          </p:spPr>
          <p:txBody>
            <a:bodyPr anchor="ctr" rtlCol="false" tIns="50800" lIns="50800" bIns="50800" rIns="50800"/>
            <a:lstStyle/>
            <a:p>
              <a:pPr algn="ctr">
                <a:lnSpc>
                  <a:spcPts val="3500"/>
                </a:lnSpc>
              </a:pPr>
            </a:p>
          </p:txBody>
        </p:sp>
      </p:grpSp>
      <p:sp>
        <p:nvSpPr>
          <p:cNvPr name="Freeform 5" id="5"/>
          <p:cNvSpPr/>
          <p:nvPr/>
        </p:nvSpPr>
        <p:spPr>
          <a:xfrm flipH="false" flipV="true" rot="-5400000">
            <a:off x="1986274" y="6241669"/>
            <a:ext cx="2239854" cy="4599618"/>
          </a:xfrm>
          <a:custGeom>
            <a:avLst/>
            <a:gdLst/>
            <a:ahLst/>
            <a:cxnLst/>
            <a:rect r="r" b="b" t="t" l="l"/>
            <a:pathLst>
              <a:path h="4599618" w="2239854">
                <a:moveTo>
                  <a:pt x="0" y="4599618"/>
                </a:moveTo>
                <a:lnTo>
                  <a:pt x="2239853" y="4599618"/>
                </a:lnTo>
                <a:lnTo>
                  <a:pt x="2239853" y="0"/>
                </a:lnTo>
                <a:lnTo>
                  <a:pt x="0" y="0"/>
                </a:lnTo>
                <a:lnTo>
                  <a:pt x="0" y="4599618"/>
                </a:lnTo>
                <a:close/>
              </a:path>
            </a:pathLst>
          </a:custGeom>
          <a:blipFill>
            <a:blip r:embed="rId2">
              <a:alphaModFix amt="64000"/>
            </a:blip>
            <a:stretch>
              <a:fillRect l="-1702" t="0" r="0" b="0"/>
            </a:stretch>
          </a:blipFill>
        </p:spPr>
      </p:sp>
      <p:grpSp>
        <p:nvGrpSpPr>
          <p:cNvPr name="Group 6" id="6"/>
          <p:cNvGrpSpPr/>
          <p:nvPr/>
        </p:nvGrpSpPr>
        <p:grpSpPr>
          <a:xfrm rot="0">
            <a:off x="927100" y="-240614"/>
            <a:ext cx="4478910" cy="9293969"/>
            <a:chOff x="0" y="0"/>
            <a:chExt cx="693900" cy="1439879"/>
          </a:xfrm>
        </p:grpSpPr>
        <p:sp>
          <p:nvSpPr>
            <p:cNvPr name="Freeform 7" id="7"/>
            <p:cNvSpPr/>
            <p:nvPr/>
          </p:nvSpPr>
          <p:spPr>
            <a:xfrm flipH="false" flipV="false" rot="143170">
              <a:off x="-29674" y="-13821"/>
              <a:ext cx="753247" cy="1467521"/>
            </a:xfrm>
            <a:custGeom>
              <a:avLst/>
              <a:gdLst/>
              <a:ahLst/>
              <a:cxnLst/>
              <a:rect r="r" b="b" t="t" l="l"/>
              <a:pathLst>
                <a:path h="1467521" w="753247">
                  <a:moveTo>
                    <a:pt x="0" y="28890"/>
                  </a:moveTo>
                  <a:lnTo>
                    <a:pt x="693299" y="0"/>
                  </a:lnTo>
                  <a:lnTo>
                    <a:pt x="753248" y="1438631"/>
                  </a:lnTo>
                  <a:lnTo>
                    <a:pt x="59949" y="1467521"/>
                  </a:lnTo>
                  <a:close/>
                </a:path>
              </a:pathLst>
            </a:custGeom>
            <a:blipFill>
              <a:blip r:embed="rId3"/>
              <a:stretch>
                <a:fillRect l="-173354" t="0" r="-28084" b="-3083"/>
              </a:stretch>
            </a:blipFill>
          </p:spPr>
        </p:sp>
      </p:grpSp>
      <p:grpSp>
        <p:nvGrpSpPr>
          <p:cNvPr name="Group 8" id="8"/>
          <p:cNvGrpSpPr/>
          <p:nvPr/>
        </p:nvGrpSpPr>
        <p:grpSpPr>
          <a:xfrm rot="0">
            <a:off x="13736975" y="-2795743"/>
            <a:ext cx="6768900" cy="67689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cap="sq">
              <a:noFill/>
              <a:prstDash val="solid"/>
              <a:miter/>
            </a:ln>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11" id="11"/>
          <p:cNvSpPr/>
          <p:nvPr/>
        </p:nvSpPr>
        <p:spPr>
          <a:xfrm flipH="false" flipV="false" rot="0">
            <a:off x="15644580" y="4708707"/>
            <a:ext cx="5617097" cy="3433450"/>
          </a:xfrm>
          <a:custGeom>
            <a:avLst/>
            <a:gdLst/>
            <a:ahLst/>
            <a:cxnLst/>
            <a:rect r="r" b="b" t="t" l="l"/>
            <a:pathLst>
              <a:path h="3433450" w="5617097">
                <a:moveTo>
                  <a:pt x="0" y="0"/>
                </a:moveTo>
                <a:lnTo>
                  <a:pt x="5617096" y="0"/>
                </a:lnTo>
                <a:lnTo>
                  <a:pt x="5617096" y="3433450"/>
                </a:lnTo>
                <a:lnTo>
                  <a:pt x="0" y="3433450"/>
                </a:lnTo>
                <a:lnTo>
                  <a:pt x="0" y="0"/>
                </a:lnTo>
                <a:close/>
              </a:path>
            </a:pathLst>
          </a:custGeom>
          <a:blipFill>
            <a:blip r:embed="rId4"/>
            <a:stretch>
              <a:fillRect l="0" t="0" r="0" b="0"/>
            </a:stretch>
          </a:blipFill>
        </p:spPr>
      </p:sp>
      <p:sp>
        <p:nvSpPr>
          <p:cNvPr name="Freeform 12" id="12"/>
          <p:cNvSpPr/>
          <p:nvPr/>
        </p:nvSpPr>
        <p:spPr>
          <a:xfrm flipH="false" flipV="false" rot="0">
            <a:off x="15825782" y="2099964"/>
            <a:ext cx="1295643" cy="1561016"/>
          </a:xfrm>
          <a:custGeom>
            <a:avLst/>
            <a:gdLst/>
            <a:ahLst/>
            <a:cxnLst/>
            <a:rect r="r" b="b" t="t" l="l"/>
            <a:pathLst>
              <a:path h="1561016" w="1295643">
                <a:moveTo>
                  <a:pt x="0" y="0"/>
                </a:moveTo>
                <a:lnTo>
                  <a:pt x="1295643" y="0"/>
                </a:lnTo>
                <a:lnTo>
                  <a:pt x="1295643" y="1561016"/>
                </a:lnTo>
                <a:lnTo>
                  <a:pt x="0" y="1561016"/>
                </a:lnTo>
                <a:lnTo>
                  <a:pt x="0" y="0"/>
                </a:lnTo>
                <a:close/>
              </a:path>
            </a:pathLst>
          </a:custGeom>
          <a:blipFill>
            <a:blip r:embed="rId5"/>
            <a:stretch>
              <a:fillRect l="0" t="0" r="0" b="0"/>
            </a:stretch>
          </a:blipFill>
        </p:spPr>
      </p:sp>
      <p:sp>
        <p:nvSpPr>
          <p:cNvPr name="Freeform 13" id="13"/>
          <p:cNvSpPr/>
          <p:nvPr/>
        </p:nvSpPr>
        <p:spPr>
          <a:xfrm flipH="false" flipV="false" rot="0">
            <a:off x="15435764" y="364337"/>
            <a:ext cx="780036" cy="880154"/>
          </a:xfrm>
          <a:custGeom>
            <a:avLst/>
            <a:gdLst/>
            <a:ahLst/>
            <a:cxnLst/>
            <a:rect r="r" b="b" t="t" l="l"/>
            <a:pathLst>
              <a:path h="880154" w="780036">
                <a:moveTo>
                  <a:pt x="0" y="0"/>
                </a:moveTo>
                <a:lnTo>
                  <a:pt x="780036" y="0"/>
                </a:lnTo>
                <a:lnTo>
                  <a:pt x="780036" y="880154"/>
                </a:lnTo>
                <a:lnTo>
                  <a:pt x="0" y="880154"/>
                </a:lnTo>
                <a:lnTo>
                  <a:pt x="0" y="0"/>
                </a:lnTo>
                <a:close/>
              </a:path>
            </a:pathLst>
          </a:custGeom>
          <a:blipFill>
            <a:blip r:embed="rId6"/>
            <a:stretch>
              <a:fillRect l="0" t="0" r="0" b="0"/>
            </a:stretch>
          </a:blipFill>
        </p:spPr>
      </p:sp>
      <p:sp>
        <p:nvSpPr>
          <p:cNvPr name="TextBox 14" id="14"/>
          <p:cNvSpPr txBox="true"/>
          <p:nvPr/>
        </p:nvSpPr>
        <p:spPr>
          <a:xfrm rot="0">
            <a:off x="5880047" y="412115"/>
            <a:ext cx="11163072" cy="1090295"/>
          </a:xfrm>
          <a:prstGeom prst="rect">
            <a:avLst/>
          </a:prstGeom>
        </p:spPr>
        <p:txBody>
          <a:bodyPr anchor="t" rtlCol="false" tIns="0" lIns="0" bIns="0" rIns="0">
            <a:spAutoFit/>
          </a:bodyPr>
          <a:lstStyle/>
          <a:p>
            <a:pPr algn="l" marL="0" indent="0" lvl="0">
              <a:lnSpc>
                <a:spcPts val="7540"/>
              </a:lnSpc>
              <a:spcBef>
                <a:spcPct val="0"/>
              </a:spcBef>
            </a:pPr>
            <a:r>
              <a:rPr lang="en-US" b="true" sz="6500">
                <a:solidFill>
                  <a:srgbClr val="134E1A"/>
                </a:solidFill>
                <a:latin typeface="Akzidenz-Grotesk Heavy"/>
                <a:ea typeface="Akzidenz-Grotesk Heavy"/>
                <a:cs typeface="Akzidenz-Grotesk Heavy"/>
                <a:sym typeface="Akzidenz-Grotesk Heavy"/>
              </a:rPr>
              <a:t>CONTINUAÇÃO</a:t>
            </a:r>
          </a:p>
        </p:txBody>
      </p:sp>
      <p:sp>
        <p:nvSpPr>
          <p:cNvPr name="TextBox 15" id="15"/>
          <p:cNvSpPr txBox="true"/>
          <p:nvPr/>
        </p:nvSpPr>
        <p:spPr>
          <a:xfrm rot="0">
            <a:off x="5880047" y="1510176"/>
            <a:ext cx="10687542" cy="5054600"/>
          </a:xfrm>
          <a:prstGeom prst="rect">
            <a:avLst/>
          </a:prstGeom>
        </p:spPr>
        <p:txBody>
          <a:bodyPr anchor="t" rtlCol="false" tIns="0" lIns="0" bIns="0" rIns="0">
            <a:spAutoFit/>
          </a:bodyPr>
          <a:lstStyle/>
          <a:p>
            <a:pPr algn="l">
              <a:lnSpc>
                <a:spcPts val="4900"/>
              </a:lnSpc>
            </a:pPr>
            <a:r>
              <a:rPr lang="en-US" sz="3500">
                <a:solidFill>
                  <a:srgbClr val="322A2A"/>
                </a:solidFill>
                <a:latin typeface="29LT Bukra Semi Condensed"/>
                <a:ea typeface="29LT Bukra Semi Condensed"/>
                <a:cs typeface="29LT Bukra Semi Condensed"/>
                <a:sym typeface="29LT Bukra Semi Condensed"/>
              </a:rPr>
              <a:t>Na nossa plataforma já catalogámos 950+ empresas em 11 províncias. Mas para o melhor funcionamento do mercado é preciso saber quem são os actores do agro-negócio e onde se localizam. </a:t>
            </a:r>
          </a:p>
          <a:p>
            <a:pPr algn="l">
              <a:lnSpc>
                <a:spcPts val="4900"/>
              </a:lnSpc>
            </a:pPr>
          </a:p>
          <a:p>
            <a:pPr algn="l">
              <a:lnSpc>
                <a:spcPts val="4900"/>
              </a:lnSpc>
            </a:pPr>
            <a:r>
              <a:rPr lang="en-US" sz="3500">
                <a:solidFill>
                  <a:srgbClr val="322A2A"/>
                </a:solidFill>
                <a:latin typeface="29LT Bukra Semi Condensed"/>
                <a:ea typeface="29LT Bukra Semi Condensed"/>
                <a:cs typeface="29LT Bukra Semi Condensed"/>
                <a:sym typeface="29LT Bukra Semi Condensed"/>
              </a:rPr>
              <a:t>Apoiadas por ferramentas como o Scanner Inteligente (Doctor Plants / AgroBotanica AI) e cotações SIMA/IPC em tempo real.</a:t>
            </a:r>
          </a:p>
        </p:txBody>
      </p:sp>
      <p:grpSp>
        <p:nvGrpSpPr>
          <p:cNvPr name="Group 16" id="16"/>
          <p:cNvGrpSpPr/>
          <p:nvPr/>
        </p:nvGrpSpPr>
        <p:grpSpPr>
          <a:xfrm rot="0">
            <a:off x="0" y="9414578"/>
            <a:ext cx="18288000" cy="959109"/>
            <a:chOff x="0" y="0"/>
            <a:chExt cx="4816593" cy="252605"/>
          </a:xfrm>
        </p:grpSpPr>
        <p:sp>
          <p:nvSpPr>
            <p:cNvPr name="Freeform 17" id="17"/>
            <p:cNvSpPr/>
            <p:nvPr/>
          </p:nvSpPr>
          <p:spPr>
            <a:xfrm flipH="false" flipV="false" rot="0">
              <a:off x="0" y="0"/>
              <a:ext cx="4816592" cy="252605"/>
            </a:xfrm>
            <a:custGeom>
              <a:avLst/>
              <a:gdLst/>
              <a:ahLst/>
              <a:cxnLst/>
              <a:rect r="r" b="b" t="t" l="l"/>
              <a:pathLst>
                <a:path h="252605" w="4816592">
                  <a:moveTo>
                    <a:pt x="0" y="0"/>
                  </a:moveTo>
                  <a:lnTo>
                    <a:pt x="4816592" y="0"/>
                  </a:lnTo>
                  <a:lnTo>
                    <a:pt x="4816592" y="252605"/>
                  </a:lnTo>
                  <a:lnTo>
                    <a:pt x="0" y="252605"/>
                  </a:lnTo>
                  <a:close/>
                </a:path>
              </a:pathLst>
            </a:custGeom>
            <a:solidFill>
              <a:srgbClr val="134E1A"/>
            </a:solidFill>
          </p:spPr>
        </p:sp>
        <p:sp>
          <p:nvSpPr>
            <p:cNvPr name="TextBox 18" id="18"/>
            <p:cNvSpPr txBox="true"/>
            <p:nvPr/>
          </p:nvSpPr>
          <p:spPr>
            <a:xfrm>
              <a:off x="0" y="-57150"/>
              <a:ext cx="4816593" cy="309755"/>
            </a:xfrm>
            <a:prstGeom prst="rect">
              <a:avLst/>
            </a:prstGeom>
          </p:spPr>
          <p:txBody>
            <a:bodyPr anchor="ctr" rtlCol="false" tIns="50800" lIns="50800" bIns="50800" rIns="50800"/>
            <a:lstStyle/>
            <a:p>
              <a:pPr algn="ctr">
                <a:lnSpc>
                  <a:spcPts val="3500"/>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0"/>
            <a:ext cx="1955694" cy="10287000"/>
            <a:chOff x="0" y="0"/>
            <a:chExt cx="515080" cy="2709333"/>
          </a:xfrm>
        </p:grpSpPr>
        <p:sp>
          <p:nvSpPr>
            <p:cNvPr name="Freeform 3" id="3"/>
            <p:cNvSpPr/>
            <p:nvPr/>
          </p:nvSpPr>
          <p:spPr>
            <a:xfrm flipH="false" flipV="false" rot="0">
              <a:off x="0" y="0"/>
              <a:ext cx="515080" cy="2709333"/>
            </a:xfrm>
            <a:custGeom>
              <a:avLst/>
              <a:gdLst/>
              <a:ahLst/>
              <a:cxnLst/>
              <a:rect r="r" b="b" t="t" l="l"/>
              <a:pathLst>
                <a:path h="2709333" w="515080">
                  <a:moveTo>
                    <a:pt x="0" y="0"/>
                  </a:moveTo>
                  <a:lnTo>
                    <a:pt x="515080" y="0"/>
                  </a:lnTo>
                  <a:lnTo>
                    <a:pt x="515080" y="2709333"/>
                  </a:lnTo>
                  <a:lnTo>
                    <a:pt x="0" y="2709333"/>
                  </a:lnTo>
                  <a:close/>
                </a:path>
              </a:pathLst>
            </a:custGeom>
            <a:solidFill>
              <a:srgbClr val="D9DFCE"/>
            </a:solidFill>
          </p:spPr>
        </p:sp>
        <p:sp>
          <p:nvSpPr>
            <p:cNvPr name="TextBox 4" id="4"/>
            <p:cNvSpPr txBox="true"/>
            <p:nvPr/>
          </p:nvSpPr>
          <p:spPr>
            <a:xfrm>
              <a:off x="0" y="-57150"/>
              <a:ext cx="515080" cy="2766483"/>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469318" y="2766339"/>
            <a:ext cx="3724702" cy="3092053"/>
            <a:chOff x="0" y="0"/>
            <a:chExt cx="543287" cy="451008"/>
          </a:xfrm>
        </p:grpSpPr>
        <p:sp>
          <p:nvSpPr>
            <p:cNvPr name="Freeform 6" id="6"/>
            <p:cNvSpPr/>
            <p:nvPr/>
          </p:nvSpPr>
          <p:spPr>
            <a:xfrm flipH="false" flipV="false" rot="0">
              <a:off x="0" y="0"/>
              <a:ext cx="543287" cy="451008"/>
            </a:xfrm>
            <a:custGeom>
              <a:avLst/>
              <a:gdLst/>
              <a:ahLst/>
              <a:cxnLst/>
              <a:rect r="r" b="b" t="t" l="l"/>
              <a:pathLst>
                <a:path h="451008" w="543287">
                  <a:moveTo>
                    <a:pt x="0" y="0"/>
                  </a:moveTo>
                  <a:lnTo>
                    <a:pt x="543287" y="0"/>
                  </a:lnTo>
                  <a:lnTo>
                    <a:pt x="543287" y="451008"/>
                  </a:lnTo>
                  <a:lnTo>
                    <a:pt x="0" y="451008"/>
                  </a:lnTo>
                  <a:close/>
                </a:path>
              </a:pathLst>
            </a:custGeom>
            <a:blipFill>
              <a:blip r:embed="rId2"/>
              <a:stretch>
                <a:fillRect l="0" t="-10230" r="0" b="-10230"/>
              </a:stretch>
            </a:blipFill>
            <a:ln w="9525" cap="sq">
              <a:solidFill>
                <a:srgbClr val="C8C0A8"/>
              </a:solidFill>
              <a:prstDash val="solid"/>
              <a:miter/>
            </a:ln>
          </p:spPr>
        </p:sp>
      </p:grpSp>
      <p:sp>
        <p:nvSpPr>
          <p:cNvPr name="TextBox 7" id="7"/>
          <p:cNvSpPr txBox="true"/>
          <p:nvPr/>
        </p:nvSpPr>
        <p:spPr>
          <a:xfrm rot="0">
            <a:off x="2331669" y="466783"/>
            <a:ext cx="14927631" cy="1916938"/>
          </a:xfrm>
          <a:prstGeom prst="rect">
            <a:avLst/>
          </a:prstGeom>
        </p:spPr>
        <p:txBody>
          <a:bodyPr anchor="t" rtlCol="false" tIns="0" lIns="0" bIns="0" rIns="0">
            <a:spAutoFit/>
          </a:bodyPr>
          <a:lstStyle/>
          <a:p>
            <a:pPr algn="l" marL="0" indent="0" lvl="0">
              <a:lnSpc>
                <a:spcPts val="7076"/>
              </a:lnSpc>
              <a:spcBef>
                <a:spcPct val="0"/>
              </a:spcBef>
            </a:pPr>
            <a:r>
              <a:rPr lang="en-US" b="true" sz="6100">
                <a:solidFill>
                  <a:srgbClr val="134E1A"/>
                </a:solidFill>
                <a:latin typeface="Akzidenz-Grotesk Heavy"/>
                <a:ea typeface="Akzidenz-Grotesk Heavy"/>
                <a:cs typeface="Akzidenz-Grotesk Heavy"/>
                <a:sym typeface="Akzidenz-Grotesk Heavy"/>
              </a:rPr>
              <a:t>ALINHA</a:t>
            </a:r>
            <a:r>
              <a:rPr lang="en-US" b="true" sz="6100" strike="noStrike" u="none">
                <a:solidFill>
                  <a:srgbClr val="134E1A"/>
                </a:solidFill>
                <a:latin typeface="Akzidenz-Grotesk Heavy"/>
                <a:ea typeface="Akzidenz-Grotesk Heavy"/>
                <a:cs typeface="Akzidenz-Grotesk Heavy"/>
                <a:sym typeface="Akzidenz-Grotesk Heavy"/>
              </a:rPr>
              <a:t>MENTO ESTRATÉGICO COM PEDSA II E PNISA II </a:t>
            </a:r>
          </a:p>
        </p:txBody>
      </p:sp>
      <p:sp>
        <p:nvSpPr>
          <p:cNvPr name="Freeform 8" id="8"/>
          <p:cNvSpPr/>
          <p:nvPr/>
        </p:nvSpPr>
        <p:spPr>
          <a:xfrm flipH="false" flipV="false" rot="0">
            <a:off x="2331669" y="2256262"/>
            <a:ext cx="1709818" cy="254918"/>
          </a:xfrm>
          <a:custGeom>
            <a:avLst/>
            <a:gdLst/>
            <a:ahLst/>
            <a:cxnLst/>
            <a:rect r="r" b="b" t="t" l="l"/>
            <a:pathLst>
              <a:path h="254918" w="1709818">
                <a:moveTo>
                  <a:pt x="0" y="0"/>
                </a:moveTo>
                <a:lnTo>
                  <a:pt x="1709817" y="0"/>
                </a:lnTo>
                <a:lnTo>
                  <a:pt x="1709817" y="254918"/>
                </a:lnTo>
                <a:lnTo>
                  <a:pt x="0" y="254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1450288" y="8308759"/>
            <a:ext cx="13020133" cy="3929831"/>
          </a:xfrm>
          <a:prstGeom prst="rect">
            <a:avLst/>
          </a:prstGeom>
        </p:spPr>
        <p:txBody>
          <a:bodyPr anchor="t" rtlCol="false" tIns="0" lIns="0" bIns="0" rIns="0">
            <a:spAutoFit/>
          </a:bodyPr>
          <a:lstStyle/>
          <a:p>
            <a:pPr algn="l">
              <a:lnSpc>
                <a:spcPts val="5043"/>
              </a:lnSpc>
            </a:pPr>
          </a:p>
          <a:p>
            <a:pPr algn="l">
              <a:lnSpc>
                <a:spcPts val="5043"/>
              </a:lnSpc>
            </a:pPr>
            <a:r>
              <a:rPr lang="en-US" sz="3552">
                <a:solidFill>
                  <a:srgbClr val="322A2A"/>
                </a:solidFill>
                <a:latin typeface="29LT Bukra Semi Condensed"/>
                <a:ea typeface="29LT Bukra Semi Condensed"/>
                <a:cs typeface="29LT Bukra Semi Condensed"/>
                <a:sym typeface="29LT Bukra Semi Condensed"/>
              </a:rPr>
              <a:t>Mais do que uma simples ponte digital entre o Estado e o público alvo da cadeia de valor agrária, pretendemos que o MADER assuma a posição de Provedor Institucional da Plataforma Base de Dados Agro, autenticando-a como o repositório digital oficial, certificando-o de elevada confiança no país.</a:t>
            </a:r>
          </a:p>
        </p:txBody>
      </p:sp>
      <p:sp>
        <p:nvSpPr>
          <p:cNvPr name="TextBox 10" id="10"/>
          <p:cNvSpPr txBox="true"/>
          <p:nvPr/>
        </p:nvSpPr>
        <p:spPr>
          <a:xfrm rot="0">
            <a:off x="4697202" y="5368186"/>
            <a:ext cx="13020133" cy="3400195"/>
          </a:xfrm>
          <a:prstGeom prst="rect">
            <a:avLst/>
          </a:prstGeom>
        </p:spPr>
        <p:txBody>
          <a:bodyPr anchor="t" rtlCol="false" tIns="0" lIns="0" bIns="0" rIns="0">
            <a:spAutoFit/>
          </a:bodyPr>
          <a:lstStyle/>
          <a:p>
            <a:pPr algn="l">
              <a:lnSpc>
                <a:spcPts val="5434"/>
              </a:lnSpc>
            </a:pPr>
            <a:r>
              <a:rPr lang="en-US" sz="3552" b="true">
                <a:solidFill>
                  <a:srgbClr val="322A2A"/>
                </a:solidFill>
                <a:latin typeface="29LT Bukra Semi Condensed Bold"/>
                <a:ea typeface="29LT Bukra Semi Condensed Bold"/>
                <a:cs typeface="29LT Bukra Semi Condensed Bold"/>
                <a:sym typeface="29LT Bukra Semi Condensed Bold"/>
              </a:rPr>
              <a:t>Pilar 1:</a:t>
            </a:r>
            <a:r>
              <a:rPr lang="en-US" sz="3552">
                <a:solidFill>
                  <a:srgbClr val="322A2A"/>
                </a:solidFill>
                <a:latin typeface="29LT Bukra Semi Condensed"/>
                <a:ea typeface="29LT Bukra Semi Condensed"/>
                <a:cs typeface="29LT Bukra Semi Condensed"/>
                <a:sym typeface="29LT Bukra Semi Condensed"/>
              </a:rPr>
              <a:t> Digitalização Agrária em consonância com as metas governamentais para 2030 e o discurso presidencial na FACIM 2026.</a:t>
            </a:r>
          </a:p>
          <a:p>
            <a:pPr algn="l">
              <a:lnSpc>
                <a:spcPts val="5043"/>
              </a:lnSpc>
            </a:pPr>
          </a:p>
          <a:p>
            <a:pPr algn="l">
              <a:lnSpc>
                <a:spcPts val="5043"/>
              </a:lnSpc>
            </a:pPr>
            <a:r>
              <a:rPr lang="en-US" sz="3552" b="true">
                <a:solidFill>
                  <a:srgbClr val="322A2A"/>
                </a:solidFill>
                <a:latin typeface="29LT Bukra Semi Condensed Bold"/>
                <a:ea typeface="29LT Bukra Semi Condensed Bold"/>
                <a:cs typeface="29LT Bukra Semi Condensed Bold"/>
                <a:sym typeface="29LT Bukra Semi Condensed Bold"/>
              </a:rPr>
              <a:t>Pilar 2:</a:t>
            </a:r>
            <a:r>
              <a:rPr lang="en-US" sz="3552">
                <a:solidFill>
                  <a:srgbClr val="322A2A"/>
                </a:solidFill>
                <a:latin typeface="29LT Bukra Semi Condensed"/>
                <a:ea typeface="29LT Bukra Semi Condensed"/>
                <a:cs typeface="29LT Bukra Semi Condensed"/>
                <a:sym typeface="29LT Bukra Semi Condensed"/>
              </a:rPr>
              <a:t> Apoio ao FAR, IP na constituição de listas auditadas de fornecedores elegíveis para subsídios e fomento.</a:t>
            </a:r>
          </a:p>
        </p:txBody>
      </p:sp>
      <p:sp>
        <p:nvSpPr>
          <p:cNvPr name="TextBox 11" id="11"/>
          <p:cNvSpPr txBox="true"/>
          <p:nvPr/>
        </p:nvSpPr>
        <p:spPr>
          <a:xfrm rot="0">
            <a:off x="4697202" y="2336857"/>
            <a:ext cx="13020133" cy="2653481"/>
          </a:xfrm>
          <a:prstGeom prst="rect">
            <a:avLst/>
          </a:prstGeom>
        </p:spPr>
        <p:txBody>
          <a:bodyPr anchor="t" rtlCol="false" tIns="0" lIns="0" bIns="0" rIns="0">
            <a:spAutoFit/>
          </a:bodyPr>
          <a:lstStyle/>
          <a:p>
            <a:pPr algn="l">
              <a:lnSpc>
                <a:spcPts val="5043"/>
              </a:lnSpc>
            </a:pPr>
            <a:r>
              <a:rPr lang="en-US" sz="3552">
                <a:solidFill>
                  <a:srgbClr val="322A2A"/>
                </a:solidFill>
                <a:latin typeface="29LT Bukra Semi Condensed"/>
                <a:ea typeface="29LT Bukra Semi Condensed"/>
                <a:cs typeface="29LT Bukra Semi Condensed"/>
                <a:sym typeface="29LT Bukra Semi Condensed"/>
              </a:rPr>
              <a:t>A nossa solução não foi desenhada no vácuo. Queremos promover a conexão Estado-Público Alvo: Ligar de forma directa e fluida o Governo (MADER/FAR, IP) aos produtores, fornecedores de insumos, agro-processadores e prestadores de serviços.</a:t>
            </a:r>
            <a:r>
              <a:rPr lang="en-US" sz="3552">
                <a:solidFill>
                  <a:srgbClr val="322A2A"/>
                </a:solidFill>
                <a:latin typeface="29LT Bukra Semi Condensed"/>
                <a:ea typeface="29LT Bukra Semi Condensed"/>
                <a:cs typeface="29LT Bukra Semi Condensed"/>
                <a:sym typeface="29LT Bukra Semi Condensed"/>
              </a:rPr>
              <a:t> </a:t>
            </a:r>
          </a:p>
        </p:txBody>
      </p:sp>
      <p:grpSp>
        <p:nvGrpSpPr>
          <p:cNvPr name="Group 12" id="12"/>
          <p:cNvGrpSpPr/>
          <p:nvPr/>
        </p:nvGrpSpPr>
        <p:grpSpPr>
          <a:xfrm rot="0">
            <a:off x="0" y="9698479"/>
            <a:ext cx="18288000" cy="675208"/>
            <a:chOff x="0" y="0"/>
            <a:chExt cx="4816593" cy="177832"/>
          </a:xfrm>
        </p:grpSpPr>
        <p:sp>
          <p:nvSpPr>
            <p:cNvPr name="Freeform 13" id="13"/>
            <p:cNvSpPr/>
            <p:nvPr/>
          </p:nvSpPr>
          <p:spPr>
            <a:xfrm flipH="false" flipV="false" rot="0">
              <a:off x="0" y="0"/>
              <a:ext cx="4816592" cy="177832"/>
            </a:xfrm>
            <a:custGeom>
              <a:avLst/>
              <a:gdLst/>
              <a:ahLst/>
              <a:cxnLst/>
              <a:rect r="r" b="b" t="t" l="l"/>
              <a:pathLst>
                <a:path h="177832" w="4816592">
                  <a:moveTo>
                    <a:pt x="0" y="0"/>
                  </a:moveTo>
                  <a:lnTo>
                    <a:pt x="4816592" y="0"/>
                  </a:lnTo>
                  <a:lnTo>
                    <a:pt x="4816592" y="177832"/>
                  </a:lnTo>
                  <a:lnTo>
                    <a:pt x="0" y="177832"/>
                  </a:lnTo>
                  <a:close/>
                </a:path>
              </a:pathLst>
            </a:custGeom>
            <a:solidFill>
              <a:srgbClr val="134E1A"/>
            </a:solidFill>
          </p:spPr>
        </p:sp>
        <p:sp>
          <p:nvSpPr>
            <p:cNvPr name="TextBox 14" id="14"/>
            <p:cNvSpPr txBox="true"/>
            <p:nvPr/>
          </p:nvSpPr>
          <p:spPr>
            <a:xfrm>
              <a:off x="0" y="-57150"/>
              <a:ext cx="4816593" cy="234982"/>
            </a:xfrm>
            <a:prstGeom prst="rect">
              <a:avLst/>
            </a:prstGeom>
          </p:spPr>
          <p:txBody>
            <a:bodyPr anchor="ctr" rtlCol="false" tIns="50800" lIns="50800" bIns="50800" rIns="50800"/>
            <a:lstStyle/>
            <a:p>
              <a:pPr algn="ctr">
                <a:lnSpc>
                  <a:spcPts val="3500"/>
                </a:lnSpc>
              </a:pPr>
            </a:p>
          </p:txBody>
        </p:sp>
      </p:grpSp>
      <p:grpSp>
        <p:nvGrpSpPr>
          <p:cNvPr name="Group 15" id="15"/>
          <p:cNvGrpSpPr/>
          <p:nvPr/>
        </p:nvGrpSpPr>
        <p:grpSpPr>
          <a:xfrm rot="0">
            <a:off x="474094" y="6008401"/>
            <a:ext cx="3719926" cy="2910432"/>
            <a:chOff x="0" y="0"/>
            <a:chExt cx="542590" cy="424517"/>
          </a:xfrm>
        </p:grpSpPr>
        <p:sp>
          <p:nvSpPr>
            <p:cNvPr name="Freeform 16" id="16"/>
            <p:cNvSpPr/>
            <p:nvPr/>
          </p:nvSpPr>
          <p:spPr>
            <a:xfrm flipH="false" flipV="false" rot="0">
              <a:off x="0" y="0"/>
              <a:ext cx="542590" cy="424517"/>
            </a:xfrm>
            <a:custGeom>
              <a:avLst/>
              <a:gdLst/>
              <a:ahLst/>
              <a:cxnLst/>
              <a:rect r="r" b="b" t="t" l="l"/>
              <a:pathLst>
                <a:path h="424517" w="542590">
                  <a:moveTo>
                    <a:pt x="0" y="0"/>
                  </a:moveTo>
                  <a:lnTo>
                    <a:pt x="542590" y="0"/>
                  </a:lnTo>
                  <a:lnTo>
                    <a:pt x="542590" y="424517"/>
                  </a:lnTo>
                  <a:lnTo>
                    <a:pt x="0" y="424517"/>
                  </a:lnTo>
                  <a:close/>
                </a:path>
              </a:pathLst>
            </a:custGeom>
            <a:blipFill>
              <a:blip r:embed="rId5"/>
              <a:stretch>
                <a:fillRect l="0" t="-1764" r="0" b="-1764"/>
              </a:stretch>
            </a:blipFill>
            <a:ln w="9525" cap="sq">
              <a:solidFill>
                <a:srgbClr val="C8C0A8"/>
              </a:solidFill>
              <a:prstDash val="solid"/>
              <a:miter/>
            </a:ln>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0"/>
            <a:ext cx="1955694" cy="10287000"/>
            <a:chOff x="0" y="0"/>
            <a:chExt cx="515080" cy="2709333"/>
          </a:xfrm>
        </p:grpSpPr>
        <p:sp>
          <p:nvSpPr>
            <p:cNvPr name="Freeform 3" id="3"/>
            <p:cNvSpPr/>
            <p:nvPr/>
          </p:nvSpPr>
          <p:spPr>
            <a:xfrm flipH="false" flipV="false" rot="0">
              <a:off x="0" y="0"/>
              <a:ext cx="515080" cy="2709333"/>
            </a:xfrm>
            <a:custGeom>
              <a:avLst/>
              <a:gdLst/>
              <a:ahLst/>
              <a:cxnLst/>
              <a:rect r="r" b="b" t="t" l="l"/>
              <a:pathLst>
                <a:path h="2709333" w="515080">
                  <a:moveTo>
                    <a:pt x="0" y="0"/>
                  </a:moveTo>
                  <a:lnTo>
                    <a:pt x="515080" y="0"/>
                  </a:lnTo>
                  <a:lnTo>
                    <a:pt x="515080" y="2709333"/>
                  </a:lnTo>
                  <a:lnTo>
                    <a:pt x="0" y="2709333"/>
                  </a:lnTo>
                  <a:close/>
                </a:path>
              </a:pathLst>
            </a:custGeom>
            <a:solidFill>
              <a:srgbClr val="D9DFCE"/>
            </a:solidFill>
          </p:spPr>
        </p:sp>
        <p:sp>
          <p:nvSpPr>
            <p:cNvPr name="TextBox 4" id="4"/>
            <p:cNvSpPr txBox="true"/>
            <p:nvPr/>
          </p:nvSpPr>
          <p:spPr>
            <a:xfrm>
              <a:off x="0" y="-57150"/>
              <a:ext cx="515080" cy="2766483"/>
            </a:xfrm>
            <a:prstGeom prst="rect">
              <a:avLst/>
            </a:prstGeom>
          </p:spPr>
          <p:txBody>
            <a:bodyPr anchor="ctr" rtlCol="false" tIns="50800" lIns="50800" bIns="50800" rIns="50800"/>
            <a:lstStyle/>
            <a:p>
              <a:pPr algn="ctr">
                <a:lnSpc>
                  <a:spcPts val="3500"/>
                </a:lnSpc>
              </a:pPr>
            </a:p>
          </p:txBody>
        </p:sp>
      </p:grpSp>
      <p:sp>
        <p:nvSpPr>
          <p:cNvPr name="TextBox 5" id="5"/>
          <p:cNvSpPr txBox="true"/>
          <p:nvPr/>
        </p:nvSpPr>
        <p:spPr>
          <a:xfrm rot="0">
            <a:off x="2331669" y="466783"/>
            <a:ext cx="14927631" cy="1916938"/>
          </a:xfrm>
          <a:prstGeom prst="rect">
            <a:avLst/>
          </a:prstGeom>
        </p:spPr>
        <p:txBody>
          <a:bodyPr anchor="t" rtlCol="false" tIns="0" lIns="0" bIns="0" rIns="0">
            <a:spAutoFit/>
          </a:bodyPr>
          <a:lstStyle/>
          <a:p>
            <a:pPr algn="l" marL="0" indent="0" lvl="0">
              <a:lnSpc>
                <a:spcPts val="7076"/>
              </a:lnSpc>
              <a:spcBef>
                <a:spcPct val="0"/>
              </a:spcBef>
            </a:pPr>
            <a:r>
              <a:rPr lang="en-US" b="true" sz="6100">
                <a:solidFill>
                  <a:srgbClr val="134E1A"/>
                </a:solidFill>
                <a:latin typeface="Akzidenz-Grotesk Heavy"/>
                <a:ea typeface="Akzidenz-Grotesk Heavy"/>
                <a:cs typeface="Akzidenz-Grotesk Heavy"/>
                <a:sym typeface="Akzidenz-Grotesk Heavy"/>
              </a:rPr>
              <a:t>PROPOSTA D</a:t>
            </a:r>
            <a:r>
              <a:rPr lang="en-US" b="true" sz="6100" strike="noStrike" u="none">
                <a:solidFill>
                  <a:srgbClr val="134E1A"/>
                </a:solidFill>
                <a:latin typeface="Akzidenz-Grotesk Heavy"/>
                <a:ea typeface="Akzidenz-Grotesk Heavy"/>
                <a:cs typeface="Akzidenz-Grotesk Heavy"/>
                <a:sym typeface="Akzidenz-Grotesk Heavy"/>
              </a:rPr>
              <a:t>E PARCERIA ESTRATÉGICA</a:t>
            </a:r>
          </a:p>
        </p:txBody>
      </p:sp>
      <p:sp>
        <p:nvSpPr>
          <p:cNvPr name="Freeform 6" id="6"/>
          <p:cNvSpPr/>
          <p:nvPr/>
        </p:nvSpPr>
        <p:spPr>
          <a:xfrm flipH="false" flipV="false" rot="0">
            <a:off x="2331669" y="2256262"/>
            <a:ext cx="1709818" cy="254918"/>
          </a:xfrm>
          <a:custGeom>
            <a:avLst/>
            <a:gdLst/>
            <a:ahLst/>
            <a:cxnLst/>
            <a:rect r="r" b="b" t="t" l="l"/>
            <a:pathLst>
              <a:path h="254918" w="1709818">
                <a:moveTo>
                  <a:pt x="0" y="0"/>
                </a:moveTo>
                <a:lnTo>
                  <a:pt x="1709817" y="0"/>
                </a:lnTo>
                <a:lnTo>
                  <a:pt x="1709817" y="254918"/>
                </a:lnTo>
                <a:lnTo>
                  <a:pt x="0" y="2549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405449" y="2699822"/>
            <a:ext cx="10414678" cy="6482531"/>
          </a:xfrm>
          <a:prstGeom prst="rect">
            <a:avLst/>
          </a:prstGeom>
        </p:spPr>
        <p:txBody>
          <a:bodyPr anchor="t" rtlCol="false" tIns="0" lIns="0" bIns="0" rIns="0">
            <a:spAutoFit/>
          </a:bodyPr>
          <a:lstStyle/>
          <a:p>
            <a:pPr algn="l">
              <a:lnSpc>
                <a:spcPts val="5043"/>
              </a:lnSpc>
            </a:pPr>
            <a:r>
              <a:rPr lang="en-US" sz="3552" b="true">
                <a:solidFill>
                  <a:srgbClr val="322A2A"/>
                </a:solidFill>
                <a:latin typeface="29LT Bukra Semi Condensed Bold"/>
                <a:ea typeface="29LT Bukra Semi Condensed Bold"/>
                <a:cs typeface="29LT Bukra Semi Condensed Bold"/>
                <a:sym typeface="29LT Bukra Semi Condensed Bold"/>
              </a:rPr>
              <a:t>O Argumento Chave:</a:t>
            </a:r>
            <a:r>
              <a:rPr lang="en-US" sz="3552">
                <a:solidFill>
                  <a:srgbClr val="322A2A"/>
                </a:solidFill>
                <a:latin typeface="29LT Bukra Semi Condensed"/>
                <a:ea typeface="29LT Bukra Semi Condensed"/>
                <a:cs typeface="29LT Bukra Semi Condensed"/>
                <a:sym typeface="29LT Bukra Semi Condensed"/>
              </a:rPr>
              <a:t> Mapeamento de 950 das ~2.000 empresas formais do país. Proposta de validação conjunta para atingir 100% do mercado.</a:t>
            </a:r>
          </a:p>
          <a:p>
            <a:pPr algn="l">
              <a:lnSpc>
                <a:spcPts val="5043"/>
              </a:lnSpc>
            </a:pPr>
          </a:p>
          <a:p>
            <a:pPr algn="l">
              <a:lnSpc>
                <a:spcPts val="5043"/>
              </a:lnSpc>
            </a:pPr>
            <a:r>
              <a:rPr lang="en-US" sz="3552" b="true">
                <a:solidFill>
                  <a:srgbClr val="322A2A"/>
                </a:solidFill>
                <a:latin typeface="29LT Bukra Semi Condensed Bold"/>
                <a:ea typeface="29LT Bukra Semi Condensed Bold"/>
                <a:cs typeface="29LT Bukra Semi Condensed Bold"/>
                <a:sym typeface="29LT Bukra Semi Condensed Bold"/>
              </a:rPr>
              <a:t>Modelo Win-Win:</a:t>
            </a:r>
            <a:r>
              <a:rPr lang="en-US" sz="3552">
                <a:solidFill>
                  <a:srgbClr val="322A2A"/>
                </a:solidFill>
                <a:latin typeface="29LT Bukra Semi Condensed"/>
                <a:ea typeface="29LT Bukra Semi Condensed"/>
                <a:cs typeface="29LT Bukra Semi Condensed"/>
                <a:sym typeface="29LT Bukra Semi Condensed"/>
              </a:rPr>
              <a:t> Cedência da infraestrutura sem custos para o Estado em troca de validação e selo institucional.</a:t>
            </a:r>
          </a:p>
          <a:p>
            <a:pPr algn="l">
              <a:lnSpc>
                <a:spcPts val="5043"/>
              </a:lnSpc>
            </a:pPr>
          </a:p>
          <a:p>
            <a:pPr algn="l">
              <a:lnSpc>
                <a:spcPts val="5043"/>
              </a:lnSpc>
            </a:pPr>
            <a:r>
              <a:rPr lang="en-US" sz="3552" b="true">
                <a:solidFill>
                  <a:srgbClr val="322A2A"/>
                </a:solidFill>
                <a:latin typeface="29LT Bukra Semi Condensed Bold"/>
                <a:ea typeface="29LT Bukra Semi Condensed Bold"/>
                <a:cs typeface="29LT Bukra Semi Condensed Bold"/>
                <a:sym typeface="29LT Bukra Semi Condensed Bold"/>
              </a:rPr>
              <a:t>Canal de Difusão:</a:t>
            </a:r>
            <a:r>
              <a:rPr lang="en-US" sz="3552">
                <a:solidFill>
                  <a:srgbClr val="322A2A"/>
                </a:solidFill>
                <a:latin typeface="29LT Bukra Semi Condensed"/>
                <a:ea typeface="29LT Bukra Semi Condensed"/>
                <a:cs typeface="29LT Bukra Semi Condensed"/>
                <a:sym typeface="29LT Bukra Semi Condensed"/>
              </a:rPr>
              <a:t> Comunicação massiva por SMS, Email e Web para avisos ministeriais.</a:t>
            </a:r>
          </a:p>
        </p:txBody>
      </p:sp>
      <p:grpSp>
        <p:nvGrpSpPr>
          <p:cNvPr name="Group 8" id="8"/>
          <p:cNvGrpSpPr/>
          <p:nvPr/>
        </p:nvGrpSpPr>
        <p:grpSpPr>
          <a:xfrm rot="0">
            <a:off x="0" y="9698479"/>
            <a:ext cx="18288000" cy="675208"/>
            <a:chOff x="0" y="0"/>
            <a:chExt cx="4816593" cy="177832"/>
          </a:xfrm>
        </p:grpSpPr>
        <p:sp>
          <p:nvSpPr>
            <p:cNvPr name="Freeform 9" id="9"/>
            <p:cNvSpPr/>
            <p:nvPr/>
          </p:nvSpPr>
          <p:spPr>
            <a:xfrm flipH="false" flipV="false" rot="0">
              <a:off x="0" y="0"/>
              <a:ext cx="4816592" cy="177832"/>
            </a:xfrm>
            <a:custGeom>
              <a:avLst/>
              <a:gdLst/>
              <a:ahLst/>
              <a:cxnLst/>
              <a:rect r="r" b="b" t="t" l="l"/>
              <a:pathLst>
                <a:path h="177832" w="4816592">
                  <a:moveTo>
                    <a:pt x="0" y="0"/>
                  </a:moveTo>
                  <a:lnTo>
                    <a:pt x="4816592" y="0"/>
                  </a:lnTo>
                  <a:lnTo>
                    <a:pt x="4816592" y="177832"/>
                  </a:lnTo>
                  <a:lnTo>
                    <a:pt x="0" y="177832"/>
                  </a:lnTo>
                  <a:close/>
                </a:path>
              </a:pathLst>
            </a:custGeom>
            <a:solidFill>
              <a:srgbClr val="134E1A"/>
            </a:solidFill>
          </p:spPr>
        </p:sp>
        <p:sp>
          <p:nvSpPr>
            <p:cNvPr name="TextBox 10" id="10"/>
            <p:cNvSpPr txBox="true"/>
            <p:nvPr/>
          </p:nvSpPr>
          <p:spPr>
            <a:xfrm>
              <a:off x="0" y="-57150"/>
              <a:ext cx="4816593" cy="234982"/>
            </a:xfrm>
            <a:prstGeom prst="rect">
              <a:avLst/>
            </a:prstGeom>
          </p:spPr>
          <p:txBody>
            <a:bodyPr anchor="ctr" rtlCol="false" tIns="50800" lIns="50800" bIns="50800" rIns="50800"/>
            <a:lstStyle/>
            <a:p>
              <a:pPr algn="ctr">
                <a:lnSpc>
                  <a:spcPts val="3500"/>
                </a:lnSpc>
              </a:pPr>
            </a:p>
          </p:txBody>
        </p:sp>
      </p:grpSp>
      <p:sp>
        <p:nvSpPr>
          <p:cNvPr name="Freeform 11" id="11"/>
          <p:cNvSpPr/>
          <p:nvPr/>
        </p:nvSpPr>
        <p:spPr>
          <a:xfrm flipH="false" flipV="false" rot="0">
            <a:off x="1028700" y="2790430"/>
            <a:ext cx="5975874" cy="6391923"/>
          </a:xfrm>
          <a:custGeom>
            <a:avLst/>
            <a:gdLst/>
            <a:ahLst/>
            <a:cxnLst/>
            <a:rect r="r" b="b" t="t" l="l"/>
            <a:pathLst>
              <a:path h="6391923" w="5975874">
                <a:moveTo>
                  <a:pt x="0" y="0"/>
                </a:moveTo>
                <a:lnTo>
                  <a:pt x="5975874" y="0"/>
                </a:lnTo>
                <a:lnTo>
                  <a:pt x="5975874" y="6391923"/>
                </a:lnTo>
                <a:lnTo>
                  <a:pt x="0" y="6391923"/>
                </a:lnTo>
                <a:lnTo>
                  <a:pt x="0" y="0"/>
                </a:lnTo>
                <a:close/>
              </a:path>
            </a:pathLst>
          </a:custGeom>
          <a:blipFill>
            <a:blip r:embed="rId4"/>
            <a:stretch>
              <a:fillRect l="-5720" t="-8202" r="-572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sp>
        <p:nvSpPr>
          <p:cNvPr name="TextBox 2" id="2"/>
          <p:cNvSpPr txBox="true"/>
          <p:nvPr/>
        </p:nvSpPr>
        <p:spPr>
          <a:xfrm rot="0">
            <a:off x="7640254" y="7074398"/>
            <a:ext cx="9619046" cy="2183902"/>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Reforestation is an important step in restoring the environment and maintaining the balance of nature. By raising awareness and participation in reforestation programs, we can help preserve forests and combat climate change. Let's contribute to a greener future by supporting reforestation initiatives.</a:t>
            </a:r>
          </a:p>
        </p:txBody>
      </p:sp>
      <p:sp>
        <p:nvSpPr>
          <p:cNvPr name="TextBox 3" id="3"/>
          <p:cNvSpPr txBox="true"/>
          <p:nvPr/>
        </p:nvSpPr>
        <p:spPr>
          <a:xfrm rot="0">
            <a:off x="7640254" y="5611643"/>
            <a:ext cx="8492259" cy="1247775"/>
          </a:xfrm>
          <a:prstGeom prst="rect">
            <a:avLst/>
          </a:prstGeom>
        </p:spPr>
        <p:txBody>
          <a:bodyPr anchor="t" rtlCol="false" tIns="0" lIns="0" bIns="0" rIns="0">
            <a:spAutoFit/>
          </a:bodyPr>
          <a:lstStyle/>
          <a:p>
            <a:pPr algn="l" marL="0" indent="0" lvl="0">
              <a:lnSpc>
                <a:spcPts val="8699"/>
              </a:lnSpc>
              <a:spcBef>
                <a:spcPct val="0"/>
              </a:spcBef>
            </a:pPr>
            <a:r>
              <a:rPr lang="en-US" b="true" sz="7499">
                <a:solidFill>
                  <a:srgbClr val="134E1A"/>
                </a:solidFill>
                <a:latin typeface="Akzidenz-Grotesk Heavy"/>
                <a:ea typeface="Akzidenz-Grotesk Heavy"/>
                <a:cs typeface="Akzidenz-Grotesk Heavy"/>
                <a:sym typeface="Akzidenz-Grotesk Heavy"/>
              </a:rPr>
              <a:t>CONCLUSÃO</a:t>
            </a:r>
          </a:p>
        </p:txBody>
      </p:sp>
      <p:grpSp>
        <p:nvGrpSpPr>
          <p:cNvPr name="Group 4" id="4"/>
          <p:cNvGrpSpPr/>
          <p:nvPr/>
        </p:nvGrpSpPr>
        <p:grpSpPr>
          <a:xfrm rot="0">
            <a:off x="1117148" y="3486251"/>
            <a:ext cx="5483984" cy="6800749"/>
            <a:chOff x="0" y="0"/>
            <a:chExt cx="1444341" cy="1791144"/>
          </a:xfrm>
        </p:grpSpPr>
        <p:sp>
          <p:nvSpPr>
            <p:cNvPr name="Freeform 5" id="5"/>
            <p:cNvSpPr/>
            <p:nvPr/>
          </p:nvSpPr>
          <p:spPr>
            <a:xfrm flipH="false" flipV="false" rot="0">
              <a:off x="0" y="0"/>
              <a:ext cx="1444341" cy="1791144"/>
            </a:xfrm>
            <a:custGeom>
              <a:avLst/>
              <a:gdLst/>
              <a:ahLst/>
              <a:cxnLst/>
              <a:rect r="r" b="b" t="t" l="l"/>
              <a:pathLst>
                <a:path h="1791144" w="1444341">
                  <a:moveTo>
                    <a:pt x="0" y="0"/>
                  </a:moveTo>
                  <a:lnTo>
                    <a:pt x="1444341" y="0"/>
                  </a:lnTo>
                  <a:lnTo>
                    <a:pt x="1444341" y="1791144"/>
                  </a:lnTo>
                  <a:lnTo>
                    <a:pt x="0" y="1791144"/>
                  </a:lnTo>
                  <a:close/>
                </a:path>
              </a:pathLst>
            </a:custGeom>
            <a:solidFill>
              <a:srgbClr val="D9DFCE"/>
            </a:solidFill>
          </p:spPr>
        </p:sp>
        <p:sp>
          <p:nvSpPr>
            <p:cNvPr name="TextBox 6" id="6"/>
            <p:cNvSpPr txBox="true"/>
            <p:nvPr/>
          </p:nvSpPr>
          <p:spPr>
            <a:xfrm>
              <a:off x="0" y="-57150"/>
              <a:ext cx="1444341" cy="1848294"/>
            </a:xfrm>
            <a:prstGeom prst="rect">
              <a:avLst/>
            </a:prstGeom>
          </p:spPr>
          <p:txBody>
            <a:bodyPr anchor="ctr" rtlCol="false" tIns="50800" lIns="50800" bIns="50800" rIns="50800"/>
            <a:lstStyle/>
            <a:p>
              <a:pPr algn="ctr">
                <a:lnSpc>
                  <a:spcPts val="3500"/>
                </a:lnSpc>
              </a:pPr>
            </a:p>
          </p:txBody>
        </p:sp>
      </p:grpSp>
      <p:sp>
        <p:nvSpPr>
          <p:cNvPr name="Freeform 7" id="7"/>
          <p:cNvSpPr/>
          <p:nvPr/>
        </p:nvSpPr>
        <p:spPr>
          <a:xfrm flipH="false" flipV="false" rot="0">
            <a:off x="7640254" y="4104533"/>
            <a:ext cx="2175726" cy="324381"/>
          </a:xfrm>
          <a:custGeom>
            <a:avLst/>
            <a:gdLst/>
            <a:ahLst/>
            <a:cxnLst/>
            <a:rect r="r" b="b" t="t" l="l"/>
            <a:pathLst>
              <a:path h="324381" w="2175726">
                <a:moveTo>
                  <a:pt x="0" y="0"/>
                </a:moveTo>
                <a:lnTo>
                  <a:pt x="2175725" y="0"/>
                </a:lnTo>
                <a:lnTo>
                  <a:pt x="2175725" y="324381"/>
                </a:lnTo>
                <a:lnTo>
                  <a:pt x="0" y="3243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3948384" y="-2795743"/>
            <a:ext cx="6768900" cy="67689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cap="sq">
              <a:noFill/>
              <a:prstDash val="solid"/>
              <a:miter/>
            </a:ln>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11" id="11"/>
          <p:cNvGrpSpPr/>
          <p:nvPr/>
        </p:nvGrpSpPr>
        <p:grpSpPr>
          <a:xfrm rot="0">
            <a:off x="13235356" y="3715886"/>
            <a:ext cx="1426055" cy="142605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4E1A"/>
            </a:solidFill>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4" id="14"/>
          <p:cNvSpPr/>
          <p:nvPr/>
        </p:nvSpPr>
        <p:spPr>
          <a:xfrm flipH="false" flipV="false" rot="0">
            <a:off x="13638855" y="4097706"/>
            <a:ext cx="619057" cy="662415"/>
          </a:xfrm>
          <a:custGeom>
            <a:avLst/>
            <a:gdLst/>
            <a:ahLst/>
            <a:cxnLst/>
            <a:rect r="r" b="b" t="t" l="l"/>
            <a:pathLst>
              <a:path h="662415" w="619057">
                <a:moveTo>
                  <a:pt x="0" y="0"/>
                </a:moveTo>
                <a:lnTo>
                  <a:pt x="619057" y="0"/>
                </a:lnTo>
                <a:lnTo>
                  <a:pt x="619057" y="662415"/>
                </a:lnTo>
                <a:lnTo>
                  <a:pt x="0" y="6624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6884463"/>
            <a:ext cx="18288000" cy="3402537"/>
            <a:chOff x="0" y="0"/>
            <a:chExt cx="4816593" cy="896141"/>
          </a:xfrm>
        </p:grpSpPr>
        <p:sp>
          <p:nvSpPr>
            <p:cNvPr name="Freeform 3" id="3"/>
            <p:cNvSpPr/>
            <p:nvPr/>
          </p:nvSpPr>
          <p:spPr>
            <a:xfrm flipH="false" flipV="false" rot="0">
              <a:off x="0" y="0"/>
              <a:ext cx="4816592" cy="896141"/>
            </a:xfrm>
            <a:custGeom>
              <a:avLst/>
              <a:gdLst/>
              <a:ahLst/>
              <a:cxnLst/>
              <a:rect r="r" b="b" t="t" l="l"/>
              <a:pathLst>
                <a:path h="896141" w="4816592">
                  <a:moveTo>
                    <a:pt x="0" y="0"/>
                  </a:moveTo>
                  <a:lnTo>
                    <a:pt x="4816592" y="0"/>
                  </a:lnTo>
                  <a:lnTo>
                    <a:pt x="4816592" y="896141"/>
                  </a:lnTo>
                  <a:lnTo>
                    <a:pt x="0" y="896141"/>
                  </a:lnTo>
                  <a:close/>
                </a:path>
              </a:pathLst>
            </a:custGeom>
            <a:solidFill>
              <a:srgbClr val="577550"/>
            </a:solidFill>
          </p:spPr>
        </p:sp>
        <p:sp>
          <p:nvSpPr>
            <p:cNvPr name="TextBox 4" id="4"/>
            <p:cNvSpPr txBox="true"/>
            <p:nvPr/>
          </p:nvSpPr>
          <p:spPr>
            <a:xfrm>
              <a:off x="0" y="-57150"/>
              <a:ext cx="4816593" cy="953291"/>
            </a:xfrm>
            <a:prstGeom prst="rect">
              <a:avLst/>
            </a:prstGeom>
          </p:spPr>
          <p:txBody>
            <a:bodyPr anchor="ctr" rtlCol="false" tIns="50800" lIns="50800" bIns="50800" rIns="50800"/>
            <a:lstStyle/>
            <a:p>
              <a:pPr algn="ctr">
                <a:lnSpc>
                  <a:spcPts val="3500"/>
                </a:lnSpc>
              </a:pPr>
            </a:p>
          </p:txBody>
        </p:sp>
      </p:grpSp>
      <p:sp>
        <p:nvSpPr>
          <p:cNvPr name="Freeform 5" id="5"/>
          <p:cNvSpPr/>
          <p:nvPr/>
        </p:nvSpPr>
        <p:spPr>
          <a:xfrm flipH="false" flipV="false" rot="-5400000">
            <a:off x="6973362" y="3650247"/>
            <a:ext cx="4341276" cy="8914961"/>
          </a:xfrm>
          <a:custGeom>
            <a:avLst/>
            <a:gdLst/>
            <a:ahLst/>
            <a:cxnLst/>
            <a:rect r="r" b="b" t="t" l="l"/>
            <a:pathLst>
              <a:path h="8914961" w="4341276">
                <a:moveTo>
                  <a:pt x="0" y="0"/>
                </a:moveTo>
                <a:lnTo>
                  <a:pt x="4341276" y="0"/>
                </a:lnTo>
                <a:lnTo>
                  <a:pt x="4341276" y="8914962"/>
                </a:lnTo>
                <a:lnTo>
                  <a:pt x="0" y="8914962"/>
                </a:lnTo>
                <a:lnTo>
                  <a:pt x="0" y="0"/>
                </a:lnTo>
                <a:close/>
              </a:path>
            </a:pathLst>
          </a:custGeom>
          <a:blipFill>
            <a:blip r:embed="rId2">
              <a:alphaModFix amt="50000"/>
            </a:blip>
            <a:stretch>
              <a:fillRect l="-1702" t="0" r="0" b="0"/>
            </a:stretch>
          </a:blipFill>
        </p:spPr>
      </p:sp>
      <p:grpSp>
        <p:nvGrpSpPr>
          <p:cNvPr name="Group 6" id="6"/>
          <p:cNvGrpSpPr/>
          <p:nvPr/>
        </p:nvGrpSpPr>
        <p:grpSpPr>
          <a:xfrm rot="0">
            <a:off x="4265097" y="5504123"/>
            <a:ext cx="9757807" cy="4408627"/>
            <a:chOff x="0" y="0"/>
            <a:chExt cx="1234657" cy="557824"/>
          </a:xfrm>
        </p:grpSpPr>
        <p:sp>
          <p:nvSpPr>
            <p:cNvPr name="Freeform 7" id="7"/>
            <p:cNvSpPr/>
            <p:nvPr/>
          </p:nvSpPr>
          <p:spPr>
            <a:xfrm flipH="false" flipV="false" rot="0">
              <a:off x="0" y="0"/>
              <a:ext cx="1234657" cy="557824"/>
            </a:xfrm>
            <a:custGeom>
              <a:avLst/>
              <a:gdLst/>
              <a:ahLst/>
              <a:cxnLst/>
              <a:rect r="r" b="b" t="t" l="l"/>
              <a:pathLst>
                <a:path h="557824" w="1234657">
                  <a:moveTo>
                    <a:pt x="0" y="0"/>
                  </a:moveTo>
                  <a:lnTo>
                    <a:pt x="1234657" y="0"/>
                  </a:lnTo>
                  <a:lnTo>
                    <a:pt x="1234657" y="557824"/>
                  </a:lnTo>
                  <a:lnTo>
                    <a:pt x="0" y="557824"/>
                  </a:lnTo>
                  <a:close/>
                </a:path>
              </a:pathLst>
            </a:custGeom>
            <a:blipFill>
              <a:blip r:embed="rId3"/>
              <a:stretch>
                <a:fillRect l="-5331" t="-24333" r="0" b="-30992"/>
              </a:stretch>
            </a:blipFill>
          </p:spPr>
        </p:sp>
      </p:grpSp>
      <p:grpSp>
        <p:nvGrpSpPr>
          <p:cNvPr name="Group 8" id="8"/>
          <p:cNvGrpSpPr/>
          <p:nvPr/>
        </p:nvGrpSpPr>
        <p:grpSpPr>
          <a:xfrm rot="0">
            <a:off x="7191251" y="1028700"/>
            <a:ext cx="4536903" cy="626038"/>
            <a:chOff x="0" y="0"/>
            <a:chExt cx="1194904" cy="164882"/>
          </a:xfrm>
        </p:grpSpPr>
        <p:sp>
          <p:nvSpPr>
            <p:cNvPr name="Freeform 9" id="9"/>
            <p:cNvSpPr/>
            <p:nvPr/>
          </p:nvSpPr>
          <p:spPr>
            <a:xfrm flipH="false" flipV="false" rot="0">
              <a:off x="0" y="0"/>
              <a:ext cx="1194904" cy="164882"/>
            </a:xfrm>
            <a:custGeom>
              <a:avLst/>
              <a:gdLst/>
              <a:ahLst/>
              <a:cxnLst/>
              <a:rect r="r" b="b" t="t" l="l"/>
              <a:pathLst>
                <a:path h="164882" w="1194904">
                  <a:moveTo>
                    <a:pt x="82441" y="0"/>
                  </a:moveTo>
                  <a:lnTo>
                    <a:pt x="1112463" y="0"/>
                  </a:lnTo>
                  <a:cubicBezTo>
                    <a:pt x="1134328" y="0"/>
                    <a:pt x="1155297" y="8686"/>
                    <a:pt x="1170758" y="24146"/>
                  </a:cubicBezTo>
                  <a:cubicBezTo>
                    <a:pt x="1186219" y="39607"/>
                    <a:pt x="1194904" y="60576"/>
                    <a:pt x="1194904" y="82441"/>
                  </a:cubicBezTo>
                  <a:lnTo>
                    <a:pt x="1194904" y="82441"/>
                  </a:lnTo>
                  <a:cubicBezTo>
                    <a:pt x="1194904" y="104306"/>
                    <a:pt x="1186219" y="125275"/>
                    <a:pt x="1170758" y="140736"/>
                  </a:cubicBezTo>
                  <a:cubicBezTo>
                    <a:pt x="1155297" y="156197"/>
                    <a:pt x="1134328" y="164882"/>
                    <a:pt x="1112463" y="164882"/>
                  </a:cubicBezTo>
                  <a:lnTo>
                    <a:pt x="82441" y="164882"/>
                  </a:lnTo>
                  <a:cubicBezTo>
                    <a:pt x="60576" y="164882"/>
                    <a:pt x="39607" y="156197"/>
                    <a:pt x="24146" y="140736"/>
                  </a:cubicBezTo>
                  <a:cubicBezTo>
                    <a:pt x="8686" y="125275"/>
                    <a:pt x="0" y="104306"/>
                    <a:pt x="0" y="82441"/>
                  </a:cubicBezTo>
                  <a:lnTo>
                    <a:pt x="0" y="82441"/>
                  </a:lnTo>
                  <a:cubicBezTo>
                    <a:pt x="0" y="60576"/>
                    <a:pt x="8686" y="39607"/>
                    <a:pt x="24146" y="24146"/>
                  </a:cubicBezTo>
                  <a:cubicBezTo>
                    <a:pt x="39607" y="8686"/>
                    <a:pt x="60576" y="0"/>
                    <a:pt x="82441" y="0"/>
                  </a:cubicBezTo>
                  <a:close/>
                </a:path>
              </a:pathLst>
            </a:custGeom>
            <a:solidFill>
              <a:srgbClr val="D9DFCE"/>
            </a:solidFill>
          </p:spPr>
        </p:sp>
        <p:sp>
          <p:nvSpPr>
            <p:cNvPr name="TextBox 10" id="10"/>
            <p:cNvSpPr txBox="true"/>
            <p:nvPr/>
          </p:nvSpPr>
          <p:spPr>
            <a:xfrm>
              <a:off x="0" y="-57150"/>
              <a:ext cx="1194904" cy="222032"/>
            </a:xfrm>
            <a:prstGeom prst="rect">
              <a:avLst/>
            </a:prstGeom>
          </p:spPr>
          <p:txBody>
            <a:bodyPr anchor="ctr" rtlCol="false" tIns="50800" lIns="50800" bIns="50800" rIns="50800"/>
            <a:lstStyle/>
            <a:p>
              <a:pPr algn="ctr">
                <a:lnSpc>
                  <a:spcPts val="3500"/>
                </a:lnSpc>
              </a:pPr>
            </a:p>
          </p:txBody>
        </p:sp>
      </p:grpSp>
      <p:sp>
        <p:nvSpPr>
          <p:cNvPr name="Freeform 11" id="11"/>
          <p:cNvSpPr/>
          <p:nvPr/>
        </p:nvSpPr>
        <p:spPr>
          <a:xfrm flipH="false" flipV="false" rot="0">
            <a:off x="7434021" y="1190122"/>
            <a:ext cx="292311" cy="292311"/>
          </a:xfrm>
          <a:custGeom>
            <a:avLst/>
            <a:gdLst/>
            <a:ahLst/>
            <a:cxnLst/>
            <a:rect r="r" b="b" t="t" l="l"/>
            <a:pathLst>
              <a:path h="292311" w="292311">
                <a:moveTo>
                  <a:pt x="0" y="0"/>
                </a:moveTo>
                <a:lnTo>
                  <a:pt x="292312" y="0"/>
                </a:lnTo>
                <a:lnTo>
                  <a:pt x="292312" y="292311"/>
                </a:lnTo>
                <a:lnTo>
                  <a:pt x="0" y="292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723109" y="3823337"/>
            <a:ext cx="14841783" cy="1320163"/>
          </a:xfrm>
          <a:prstGeom prst="rect">
            <a:avLst/>
          </a:prstGeom>
        </p:spPr>
        <p:txBody>
          <a:bodyPr anchor="t" rtlCol="false" tIns="0" lIns="0" bIns="0" rIns="0">
            <a:spAutoFit/>
          </a:bodyPr>
          <a:lstStyle/>
          <a:p>
            <a:pPr algn="ctr">
              <a:lnSpc>
                <a:spcPts val="3360"/>
              </a:lnSpc>
            </a:pPr>
            <a:r>
              <a:rPr lang="en-US" sz="2400">
                <a:solidFill>
                  <a:srgbClr val="322A2A"/>
                </a:solidFill>
                <a:latin typeface="29LT Bukra"/>
                <a:ea typeface="29LT Bukra"/>
                <a:cs typeface="29LT Bukra"/>
                <a:sym typeface="29LT Bukra"/>
              </a:rPr>
              <a:t>Director Geral: Silva Chamo | Telefone: +258 87 75 75 288</a:t>
            </a:r>
          </a:p>
          <a:p>
            <a:pPr algn="ctr">
              <a:lnSpc>
                <a:spcPts val="3360"/>
              </a:lnSpc>
            </a:pPr>
            <a:r>
              <a:rPr lang="en-US" sz="2400">
                <a:solidFill>
                  <a:srgbClr val="322A2A"/>
                </a:solidFill>
                <a:latin typeface="29LT Bukra"/>
                <a:ea typeface="29LT Bukra"/>
                <a:cs typeface="29LT Bukra"/>
                <a:sym typeface="29LT Bukra"/>
              </a:rPr>
              <a:t> • E-mail: geral@basededadosagro.com / silva.chamo@gmail.com</a:t>
            </a:r>
          </a:p>
          <a:p>
            <a:pPr algn="ctr">
              <a:lnSpc>
                <a:spcPts val="3360"/>
              </a:lnSpc>
            </a:pPr>
            <a:r>
              <a:rPr lang="en-US" sz="2400">
                <a:solidFill>
                  <a:srgbClr val="322A2A"/>
                </a:solidFill>
                <a:latin typeface="29LT Bukra"/>
                <a:ea typeface="29LT Bukra"/>
                <a:cs typeface="29LT Bukra"/>
                <a:sym typeface="29LT Bukra"/>
              </a:rPr>
              <a:t> • Website: www.basededadosagro.com | Sede: Maputo, Moçambique</a:t>
            </a:r>
          </a:p>
        </p:txBody>
      </p:sp>
      <p:sp>
        <p:nvSpPr>
          <p:cNvPr name="TextBox 13" id="13"/>
          <p:cNvSpPr txBox="true"/>
          <p:nvPr/>
        </p:nvSpPr>
        <p:spPr>
          <a:xfrm rot="0">
            <a:off x="2434007" y="1215343"/>
            <a:ext cx="13419987" cy="2880584"/>
          </a:xfrm>
          <a:prstGeom prst="rect">
            <a:avLst/>
          </a:prstGeom>
        </p:spPr>
        <p:txBody>
          <a:bodyPr anchor="t" rtlCol="false" tIns="0" lIns="0" bIns="0" rIns="0">
            <a:spAutoFit/>
          </a:bodyPr>
          <a:lstStyle/>
          <a:p>
            <a:pPr algn="ctr">
              <a:lnSpc>
                <a:spcPts val="20249"/>
              </a:lnSpc>
            </a:pPr>
            <a:r>
              <a:rPr lang="en-US" b="true" sz="14463">
                <a:solidFill>
                  <a:srgbClr val="134E1A"/>
                </a:solidFill>
                <a:latin typeface="Agrandir Narrow Heavy"/>
                <a:ea typeface="Agrandir Narrow Heavy"/>
                <a:cs typeface="Agrandir Narrow Heavy"/>
                <a:sym typeface="Agrandir Narrow Heavy"/>
              </a:rPr>
              <a:t>THANK YOU!</a:t>
            </a:r>
          </a:p>
        </p:txBody>
      </p:sp>
      <p:sp>
        <p:nvSpPr>
          <p:cNvPr name="TextBox 14" id="14"/>
          <p:cNvSpPr txBox="true"/>
          <p:nvPr/>
        </p:nvSpPr>
        <p:spPr>
          <a:xfrm rot="0">
            <a:off x="7895358" y="1163876"/>
            <a:ext cx="3832795" cy="306703"/>
          </a:xfrm>
          <a:prstGeom prst="rect">
            <a:avLst/>
          </a:prstGeom>
        </p:spPr>
        <p:txBody>
          <a:bodyPr anchor="t" rtlCol="false" tIns="0" lIns="0" bIns="0" rIns="0">
            <a:spAutoFit/>
          </a:bodyPr>
          <a:lstStyle/>
          <a:p>
            <a:pPr algn="l">
              <a:lnSpc>
                <a:spcPts val="2520"/>
              </a:lnSpc>
            </a:pPr>
            <a:r>
              <a:rPr lang="en-US" b="true" sz="1800" u="sng">
                <a:solidFill>
                  <a:srgbClr val="1800AD"/>
                </a:solidFill>
                <a:latin typeface="Aileron Heavy"/>
                <a:ea typeface="Aileron Heavy"/>
                <a:cs typeface="Aileron Heavy"/>
                <a:sym typeface="Aileron Heavy"/>
                <a:hlinkClick r:id="rId6" tooltip="https://basededadosagro.com"/>
              </a:rPr>
              <a:t>https://basededaos agro.com</a:t>
            </a:r>
          </a:p>
        </p:txBody>
      </p:sp>
      <p:sp>
        <p:nvSpPr>
          <p:cNvPr name="Freeform 15" id="15"/>
          <p:cNvSpPr/>
          <p:nvPr/>
        </p:nvSpPr>
        <p:spPr>
          <a:xfrm flipH="false" flipV="false" rot="0">
            <a:off x="1028700" y="5504123"/>
            <a:ext cx="2729160" cy="406893"/>
          </a:xfrm>
          <a:custGeom>
            <a:avLst/>
            <a:gdLst/>
            <a:ahLst/>
            <a:cxnLst/>
            <a:rect r="r" b="b" t="t" l="l"/>
            <a:pathLst>
              <a:path h="406893" w="2729160">
                <a:moveTo>
                  <a:pt x="0" y="0"/>
                </a:moveTo>
                <a:lnTo>
                  <a:pt x="2729160" y="0"/>
                </a:lnTo>
                <a:lnTo>
                  <a:pt x="2729160" y="406893"/>
                </a:lnTo>
                <a:lnTo>
                  <a:pt x="0" y="40689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4530140" y="5504123"/>
            <a:ext cx="2729160" cy="406893"/>
          </a:xfrm>
          <a:custGeom>
            <a:avLst/>
            <a:gdLst/>
            <a:ahLst/>
            <a:cxnLst/>
            <a:rect r="r" b="b" t="t" l="l"/>
            <a:pathLst>
              <a:path h="406893" w="2729160">
                <a:moveTo>
                  <a:pt x="0" y="0"/>
                </a:moveTo>
                <a:lnTo>
                  <a:pt x="2729160" y="0"/>
                </a:lnTo>
                <a:lnTo>
                  <a:pt x="2729160" y="406893"/>
                </a:lnTo>
                <a:lnTo>
                  <a:pt x="0" y="40689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DAHWDmFRWOI</dc:identifier>
  <dcterms:modified xsi:type="dcterms:W3CDTF">2011-08-01T06:04:30Z</dcterms:modified>
  <cp:revision>1</cp:revision>
  <dc:title>www.entrecamposblog.com</dc:title>
</cp:coreProperties>
</file>